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5" r:id="rId7"/>
    <p:sldId id="261"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559" autoAdjust="0"/>
    <p:restoredTop sz="94660"/>
  </p:normalViewPr>
  <p:slideViewPr>
    <p:cSldViewPr snapToGrid="0">
      <p:cViewPr varScale="1">
        <p:scale>
          <a:sx n="90" d="100"/>
          <a:sy n="90" d="100"/>
        </p:scale>
        <p:origin x="64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0B506-7F5E-4697-9B4A-2898677052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1D5843C-559B-B0A9-7E60-354D92F6F2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EEF42AD-1DE8-BAA5-C185-7A9EC8C08EE8}"/>
              </a:ext>
            </a:extLst>
          </p:cNvPr>
          <p:cNvSpPr>
            <a:spLocks noGrp="1"/>
          </p:cNvSpPr>
          <p:nvPr>
            <p:ph type="dt" sz="half" idx="10"/>
          </p:nvPr>
        </p:nvSpPr>
        <p:spPr/>
        <p:txBody>
          <a:bodyPr/>
          <a:lstStyle/>
          <a:p>
            <a:fld id="{9E3ABCF7-25F5-41B7-9890-C54FB7E9D066}" type="datetimeFigureOut">
              <a:rPr lang="en-US" smtClean="0"/>
              <a:t>10/22/2025</a:t>
            </a:fld>
            <a:endParaRPr lang="en-US"/>
          </a:p>
        </p:txBody>
      </p:sp>
      <p:sp>
        <p:nvSpPr>
          <p:cNvPr id="5" name="Footer Placeholder 4">
            <a:extLst>
              <a:ext uri="{FF2B5EF4-FFF2-40B4-BE49-F238E27FC236}">
                <a16:creationId xmlns:a16="http://schemas.microsoft.com/office/drawing/2014/main" id="{1A380868-B2D1-ACA4-6A2C-B2F2A506F6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D72BFB-7179-3B5D-C8EA-EC0FFE1A5905}"/>
              </a:ext>
            </a:extLst>
          </p:cNvPr>
          <p:cNvSpPr>
            <a:spLocks noGrp="1"/>
          </p:cNvSpPr>
          <p:nvPr>
            <p:ph type="sldNum" sz="quarter" idx="12"/>
          </p:nvPr>
        </p:nvSpPr>
        <p:spPr/>
        <p:txBody>
          <a:bodyPr/>
          <a:lstStyle/>
          <a:p>
            <a:fld id="{50F1D656-935B-43B7-98CB-997AF950564D}" type="slidenum">
              <a:rPr lang="en-US" smtClean="0"/>
              <a:t>‹#›</a:t>
            </a:fld>
            <a:endParaRPr lang="en-US"/>
          </a:p>
        </p:txBody>
      </p:sp>
    </p:spTree>
    <p:extLst>
      <p:ext uri="{BB962C8B-B14F-4D97-AF65-F5344CB8AC3E}">
        <p14:creationId xmlns:p14="http://schemas.microsoft.com/office/powerpoint/2010/main" val="2451864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D4898-DE9A-5123-DA78-6BC092D196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710F3E-FDD8-92CB-3BD4-9F6F4B8103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0559BE-8047-6DC9-0154-820D2EB1D254}"/>
              </a:ext>
            </a:extLst>
          </p:cNvPr>
          <p:cNvSpPr>
            <a:spLocks noGrp="1"/>
          </p:cNvSpPr>
          <p:nvPr>
            <p:ph type="dt" sz="half" idx="10"/>
          </p:nvPr>
        </p:nvSpPr>
        <p:spPr/>
        <p:txBody>
          <a:bodyPr/>
          <a:lstStyle/>
          <a:p>
            <a:fld id="{9E3ABCF7-25F5-41B7-9890-C54FB7E9D066}" type="datetimeFigureOut">
              <a:rPr lang="en-US" smtClean="0"/>
              <a:t>10/22/2025</a:t>
            </a:fld>
            <a:endParaRPr lang="en-US"/>
          </a:p>
        </p:txBody>
      </p:sp>
      <p:sp>
        <p:nvSpPr>
          <p:cNvPr id="5" name="Footer Placeholder 4">
            <a:extLst>
              <a:ext uri="{FF2B5EF4-FFF2-40B4-BE49-F238E27FC236}">
                <a16:creationId xmlns:a16="http://schemas.microsoft.com/office/drawing/2014/main" id="{6D5AE0E2-D64F-AFAC-44C0-D0667B1DA3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F3ACC7-02E9-0000-142C-5677E9A84124}"/>
              </a:ext>
            </a:extLst>
          </p:cNvPr>
          <p:cNvSpPr>
            <a:spLocks noGrp="1"/>
          </p:cNvSpPr>
          <p:nvPr>
            <p:ph type="sldNum" sz="quarter" idx="12"/>
          </p:nvPr>
        </p:nvSpPr>
        <p:spPr/>
        <p:txBody>
          <a:bodyPr/>
          <a:lstStyle/>
          <a:p>
            <a:fld id="{50F1D656-935B-43B7-98CB-997AF950564D}" type="slidenum">
              <a:rPr lang="en-US" smtClean="0"/>
              <a:t>‹#›</a:t>
            </a:fld>
            <a:endParaRPr lang="en-US"/>
          </a:p>
        </p:txBody>
      </p:sp>
    </p:spTree>
    <p:extLst>
      <p:ext uri="{BB962C8B-B14F-4D97-AF65-F5344CB8AC3E}">
        <p14:creationId xmlns:p14="http://schemas.microsoft.com/office/powerpoint/2010/main" val="2035599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E5B5D-9AFA-C568-0175-F807C5A5F4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86490F9-1ACF-C925-6D66-EC5EED1060F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60BAEE-BFD1-C519-DEF4-4ED109854BE0}"/>
              </a:ext>
            </a:extLst>
          </p:cNvPr>
          <p:cNvSpPr>
            <a:spLocks noGrp="1"/>
          </p:cNvSpPr>
          <p:nvPr>
            <p:ph type="dt" sz="half" idx="10"/>
          </p:nvPr>
        </p:nvSpPr>
        <p:spPr/>
        <p:txBody>
          <a:bodyPr/>
          <a:lstStyle/>
          <a:p>
            <a:fld id="{9E3ABCF7-25F5-41B7-9890-C54FB7E9D066}" type="datetimeFigureOut">
              <a:rPr lang="en-US" smtClean="0"/>
              <a:t>10/22/2025</a:t>
            </a:fld>
            <a:endParaRPr lang="en-US"/>
          </a:p>
        </p:txBody>
      </p:sp>
      <p:sp>
        <p:nvSpPr>
          <p:cNvPr id="5" name="Footer Placeholder 4">
            <a:extLst>
              <a:ext uri="{FF2B5EF4-FFF2-40B4-BE49-F238E27FC236}">
                <a16:creationId xmlns:a16="http://schemas.microsoft.com/office/drawing/2014/main" id="{F0B04A55-8EBE-9834-327C-4D39F3A05F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7CE67A-EC9D-4BF7-4FED-DFD7E3169E7E}"/>
              </a:ext>
            </a:extLst>
          </p:cNvPr>
          <p:cNvSpPr>
            <a:spLocks noGrp="1"/>
          </p:cNvSpPr>
          <p:nvPr>
            <p:ph type="sldNum" sz="quarter" idx="12"/>
          </p:nvPr>
        </p:nvSpPr>
        <p:spPr/>
        <p:txBody>
          <a:bodyPr/>
          <a:lstStyle/>
          <a:p>
            <a:fld id="{50F1D656-935B-43B7-98CB-997AF950564D}" type="slidenum">
              <a:rPr lang="en-US" smtClean="0"/>
              <a:t>‹#›</a:t>
            </a:fld>
            <a:endParaRPr lang="en-US"/>
          </a:p>
        </p:txBody>
      </p:sp>
    </p:spTree>
    <p:extLst>
      <p:ext uri="{BB962C8B-B14F-4D97-AF65-F5344CB8AC3E}">
        <p14:creationId xmlns:p14="http://schemas.microsoft.com/office/powerpoint/2010/main" val="2312631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45BD1-1B37-30CE-1BF1-2603EB28D2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AFF380-61A7-2905-81E6-0BA83DE12F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8DD3D1-8D37-3F14-F23B-D0BDFF3E06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B6B395-38EF-7B88-F0B3-A5C295721AFD}"/>
              </a:ext>
            </a:extLst>
          </p:cNvPr>
          <p:cNvSpPr>
            <a:spLocks noGrp="1"/>
          </p:cNvSpPr>
          <p:nvPr>
            <p:ph type="dt" sz="half" idx="10"/>
          </p:nvPr>
        </p:nvSpPr>
        <p:spPr/>
        <p:txBody>
          <a:bodyPr/>
          <a:lstStyle/>
          <a:p>
            <a:fld id="{9E3ABCF7-25F5-41B7-9890-C54FB7E9D066}" type="datetimeFigureOut">
              <a:rPr lang="en-US" smtClean="0"/>
              <a:t>10/22/2025</a:t>
            </a:fld>
            <a:endParaRPr lang="en-US"/>
          </a:p>
        </p:txBody>
      </p:sp>
      <p:sp>
        <p:nvSpPr>
          <p:cNvPr id="6" name="Footer Placeholder 5">
            <a:extLst>
              <a:ext uri="{FF2B5EF4-FFF2-40B4-BE49-F238E27FC236}">
                <a16:creationId xmlns:a16="http://schemas.microsoft.com/office/drawing/2014/main" id="{3AFC9F70-91B4-6DBE-A8BC-4E9D11F94F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939E6F-3E38-7B78-A158-E4FD379E2885}"/>
              </a:ext>
            </a:extLst>
          </p:cNvPr>
          <p:cNvSpPr>
            <a:spLocks noGrp="1"/>
          </p:cNvSpPr>
          <p:nvPr>
            <p:ph type="sldNum" sz="quarter" idx="12"/>
          </p:nvPr>
        </p:nvSpPr>
        <p:spPr/>
        <p:txBody>
          <a:bodyPr/>
          <a:lstStyle/>
          <a:p>
            <a:fld id="{50F1D656-935B-43B7-98CB-997AF950564D}" type="slidenum">
              <a:rPr lang="en-US" smtClean="0"/>
              <a:t>‹#›</a:t>
            </a:fld>
            <a:endParaRPr lang="en-US"/>
          </a:p>
        </p:txBody>
      </p:sp>
    </p:spTree>
    <p:extLst>
      <p:ext uri="{BB962C8B-B14F-4D97-AF65-F5344CB8AC3E}">
        <p14:creationId xmlns:p14="http://schemas.microsoft.com/office/powerpoint/2010/main" val="742999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B451F-E615-5FE8-9F4B-A4AEFE9AA2F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3EEB763-9DFF-4405-C61A-9904EC9715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D2E769-23AA-3131-D22D-D0EC1330CA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734D3FA-CF3A-8DD1-7430-2D7BDA8B95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577893-657F-572B-0EE5-0370981971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8B99FC1-7D8B-AFF9-2BED-03C38BB1C361}"/>
              </a:ext>
            </a:extLst>
          </p:cNvPr>
          <p:cNvSpPr>
            <a:spLocks noGrp="1"/>
          </p:cNvSpPr>
          <p:nvPr>
            <p:ph type="dt" sz="half" idx="10"/>
          </p:nvPr>
        </p:nvSpPr>
        <p:spPr/>
        <p:txBody>
          <a:bodyPr/>
          <a:lstStyle/>
          <a:p>
            <a:fld id="{9E3ABCF7-25F5-41B7-9890-C54FB7E9D066}" type="datetimeFigureOut">
              <a:rPr lang="en-US" smtClean="0"/>
              <a:t>10/22/2025</a:t>
            </a:fld>
            <a:endParaRPr lang="en-US"/>
          </a:p>
        </p:txBody>
      </p:sp>
      <p:sp>
        <p:nvSpPr>
          <p:cNvPr id="8" name="Footer Placeholder 7">
            <a:extLst>
              <a:ext uri="{FF2B5EF4-FFF2-40B4-BE49-F238E27FC236}">
                <a16:creationId xmlns:a16="http://schemas.microsoft.com/office/drawing/2014/main" id="{8D0D90AB-E402-875E-22B8-4CD93B87EE2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337ED63-E45F-3E35-B996-8BD2B22303F3}"/>
              </a:ext>
            </a:extLst>
          </p:cNvPr>
          <p:cNvSpPr>
            <a:spLocks noGrp="1"/>
          </p:cNvSpPr>
          <p:nvPr>
            <p:ph type="sldNum" sz="quarter" idx="12"/>
          </p:nvPr>
        </p:nvSpPr>
        <p:spPr/>
        <p:txBody>
          <a:bodyPr/>
          <a:lstStyle/>
          <a:p>
            <a:fld id="{50F1D656-935B-43B7-98CB-997AF950564D}" type="slidenum">
              <a:rPr lang="en-US" smtClean="0"/>
              <a:t>‹#›</a:t>
            </a:fld>
            <a:endParaRPr lang="en-US"/>
          </a:p>
        </p:txBody>
      </p:sp>
    </p:spTree>
    <p:extLst>
      <p:ext uri="{BB962C8B-B14F-4D97-AF65-F5344CB8AC3E}">
        <p14:creationId xmlns:p14="http://schemas.microsoft.com/office/powerpoint/2010/main" val="491396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CFE1-2533-6B85-59C4-F1A2E3B62F3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4071BFC-679E-8400-6F4B-B06306044E65}"/>
              </a:ext>
            </a:extLst>
          </p:cNvPr>
          <p:cNvSpPr>
            <a:spLocks noGrp="1"/>
          </p:cNvSpPr>
          <p:nvPr>
            <p:ph type="dt" sz="half" idx="10"/>
          </p:nvPr>
        </p:nvSpPr>
        <p:spPr/>
        <p:txBody>
          <a:bodyPr/>
          <a:lstStyle/>
          <a:p>
            <a:fld id="{9E3ABCF7-25F5-41B7-9890-C54FB7E9D066}" type="datetimeFigureOut">
              <a:rPr lang="en-US" smtClean="0"/>
              <a:t>10/22/2025</a:t>
            </a:fld>
            <a:endParaRPr lang="en-US"/>
          </a:p>
        </p:txBody>
      </p:sp>
      <p:sp>
        <p:nvSpPr>
          <p:cNvPr id="4" name="Footer Placeholder 3">
            <a:extLst>
              <a:ext uri="{FF2B5EF4-FFF2-40B4-BE49-F238E27FC236}">
                <a16:creationId xmlns:a16="http://schemas.microsoft.com/office/drawing/2014/main" id="{DCF3F375-D40F-6DD7-E839-30B53889D83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7FD3E4-5B08-7E02-81AD-10CC80B7E9BD}"/>
              </a:ext>
            </a:extLst>
          </p:cNvPr>
          <p:cNvSpPr>
            <a:spLocks noGrp="1"/>
          </p:cNvSpPr>
          <p:nvPr>
            <p:ph type="sldNum" sz="quarter" idx="12"/>
          </p:nvPr>
        </p:nvSpPr>
        <p:spPr/>
        <p:txBody>
          <a:bodyPr/>
          <a:lstStyle/>
          <a:p>
            <a:fld id="{50F1D656-935B-43B7-98CB-997AF950564D}" type="slidenum">
              <a:rPr lang="en-US" smtClean="0"/>
              <a:t>‹#›</a:t>
            </a:fld>
            <a:endParaRPr lang="en-US"/>
          </a:p>
        </p:txBody>
      </p:sp>
    </p:spTree>
    <p:extLst>
      <p:ext uri="{BB962C8B-B14F-4D97-AF65-F5344CB8AC3E}">
        <p14:creationId xmlns:p14="http://schemas.microsoft.com/office/powerpoint/2010/main" val="8793603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960D17-483D-1A7D-E197-E971361B39DD}"/>
              </a:ext>
            </a:extLst>
          </p:cNvPr>
          <p:cNvSpPr>
            <a:spLocks noGrp="1"/>
          </p:cNvSpPr>
          <p:nvPr>
            <p:ph type="dt" sz="half" idx="10"/>
          </p:nvPr>
        </p:nvSpPr>
        <p:spPr/>
        <p:txBody>
          <a:bodyPr/>
          <a:lstStyle/>
          <a:p>
            <a:fld id="{9E3ABCF7-25F5-41B7-9890-C54FB7E9D066}" type="datetimeFigureOut">
              <a:rPr lang="en-US" smtClean="0"/>
              <a:t>10/22/2025</a:t>
            </a:fld>
            <a:endParaRPr lang="en-US"/>
          </a:p>
        </p:txBody>
      </p:sp>
      <p:sp>
        <p:nvSpPr>
          <p:cNvPr id="3" name="Footer Placeholder 2">
            <a:extLst>
              <a:ext uri="{FF2B5EF4-FFF2-40B4-BE49-F238E27FC236}">
                <a16:creationId xmlns:a16="http://schemas.microsoft.com/office/drawing/2014/main" id="{A71E923F-8514-7001-0421-075870F68C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1C7C1B-3073-B531-B497-1AF1DA2776EE}"/>
              </a:ext>
            </a:extLst>
          </p:cNvPr>
          <p:cNvSpPr>
            <a:spLocks noGrp="1"/>
          </p:cNvSpPr>
          <p:nvPr>
            <p:ph type="sldNum" sz="quarter" idx="12"/>
          </p:nvPr>
        </p:nvSpPr>
        <p:spPr/>
        <p:txBody>
          <a:bodyPr/>
          <a:lstStyle/>
          <a:p>
            <a:fld id="{50F1D656-935B-43B7-98CB-997AF950564D}" type="slidenum">
              <a:rPr lang="en-US" smtClean="0"/>
              <a:t>‹#›</a:t>
            </a:fld>
            <a:endParaRPr lang="en-US"/>
          </a:p>
        </p:txBody>
      </p:sp>
    </p:spTree>
    <p:extLst>
      <p:ext uri="{BB962C8B-B14F-4D97-AF65-F5344CB8AC3E}">
        <p14:creationId xmlns:p14="http://schemas.microsoft.com/office/powerpoint/2010/main" val="146154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EA1F2-3836-2029-C134-358E4DC2DC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AEE3AD-DB2A-7310-D524-8D6150C38C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10583E4-2774-3B45-56DB-F5FF34695D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5E2AAB-E184-0518-187B-5EB90E2C0351}"/>
              </a:ext>
            </a:extLst>
          </p:cNvPr>
          <p:cNvSpPr>
            <a:spLocks noGrp="1"/>
          </p:cNvSpPr>
          <p:nvPr>
            <p:ph type="dt" sz="half" idx="10"/>
          </p:nvPr>
        </p:nvSpPr>
        <p:spPr/>
        <p:txBody>
          <a:bodyPr/>
          <a:lstStyle/>
          <a:p>
            <a:fld id="{9E3ABCF7-25F5-41B7-9890-C54FB7E9D066}" type="datetimeFigureOut">
              <a:rPr lang="en-US" smtClean="0"/>
              <a:t>10/22/2025</a:t>
            </a:fld>
            <a:endParaRPr lang="en-US"/>
          </a:p>
        </p:txBody>
      </p:sp>
      <p:sp>
        <p:nvSpPr>
          <p:cNvPr id="6" name="Footer Placeholder 5">
            <a:extLst>
              <a:ext uri="{FF2B5EF4-FFF2-40B4-BE49-F238E27FC236}">
                <a16:creationId xmlns:a16="http://schemas.microsoft.com/office/drawing/2014/main" id="{4F6E2835-7AB4-D639-3389-43246506DD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744B44-C526-9ABC-FDA7-73F3F672F4EF}"/>
              </a:ext>
            </a:extLst>
          </p:cNvPr>
          <p:cNvSpPr>
            <a:spLocks noGrp="1"/>
          </p:cNvSpPr>
          <p:nvPr>
            <p:ph type="sldNum" sz="quarter" idx="12"/>
          </p:nvPr>
        </p:nvSpPr>
        <p:spPr/>
        <p:txBody>
          <a:bodyPr/>
          <a:lstStyle/>
          <a:p>
            <a:fld id="{50F1D656-935B-43B7-98CB-997AF950564D}" type="slidenum">
              <a:rPr lang="en-US" smtClean="0"/>
              <a:t>‹#›</a:t>
            </a:fld>
            <a:endParaRPr lang="en-US"/>
          </a:p>
        </p:txBody>
      </p:sp>
    </p:spTree>
    <p:extLst>
      <p:ext uri="{BB962C8B-B14F-4D97-AF65-F5344CB8AC3E}">
        <p14:creationId xmlns:p14="http://schemas.microsoft.com/office/powerpoint/2010/main" val="3434757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2157A-FEAB-DF09-2271-A760300896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E358707-7D7B-952C-3304-207105B484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162069-FF23-2C4E-C0A4-25BD7E64BE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EE495B-22F1-C62D-BDC9-F61E84316FAE}"/>
              </a:ext>
            </a:extLst>
          </p:cNvPr>
          <p:cNvSpPr>
            <a:spLocks noGrp="1"/>
          </p:cNvSpPr>
          <p:nvPr>
            <p:ph type="dt" sz="half" idx="10"/>
          </p:nvPr>
        </p:nvSpPr>
        <p:spPr/>
        <p:txBody>
          <a:bodyPr/>
          <a:lstStyle/>
          <a:p>
            <a:fld id="{9E3ABCF7-25F5-41B7-9890-C54FB7E9D066}" type="datetimeFigureOut">
              <a:rPr lang="en-US" smtClean="0"/>
              <a:t>10/22/2025</a:t>
            </a:fld>
            <a:endParaRPr lang="en-US"/>
          </a:p>
        </p:txBody>
      </p:sp>
      <p:sp>
        <p:nvSpPr>
          <p:cNvPr id="6" name="Footer Placeholder 5">
            <a:extLst>
              <a:ext uri="{FF2B5EF4-FFF2-40B4-BE49-F238E27FC236}">
                <a16:creationId xmlns:a16="http://schemas.microsoft.com/office/drawing/2014/main" id="{78CAAAC1-5378-9FEC-5E41-5E8441839D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5832C8-5181-D6D1-31BF-4BC1304B140F}"/>
              </a:ext>
            </a:extLst>
          </p:cNvPr>
          <p:cNvSpPr>
            <a:spLocks noGrp="1"/>
          </p:cNvSpPr>
          <p:nvPr>
            <p:ph type="sldNum" sz="quarter" idx="12"/>
          </p:nvPr>
        </p:nvSpPr>
        <p:spPr/>
        <p:txBody>
          <a:bodyPr/>
          <a:lstStyle/>
          <a:p>
            <a:fld id="{50F1D656-935B-43B7-98CB-997AF950564D}" type="slidenum">
              <a:rPr lang="en-US" smtClean="0"/>
              <a:t>‹#›</a:t>
            </a:fld>
            <a:endParaRPr lang="en-US"/>
          </a:p>
        </p:txBody>
      </p:sp>
    </p:spTree>
    <p:extLst>
      <p:ext uri="{BB962C8B-B14F-4D97-AF65-F5344CB8AC3E}">
        <p14:creationId xmlns:p14="http://schemas.microsoft.com/office/powerpoint/2010/main" val="1486229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090C7-5078-9480-48F5-45D008B0DB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C0C0396-41DD-F543-AA8D-5049B75A22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29A45D-82B7-A31A-C24B-F50D5C32DEFE}"/>
              </a:ext>
            </a:extLst>
          </p:cNvPr>
          <p:cNvSpPr>
            <a:spLocks noGrp="1"/>
          </p:cNvSpPr>
          <p:nvPr>
            <p:ph type="dt" sz="half" idx="10"/>
          </p:nvPr>
        </p:nvSpPr>
        <p:spPr/>
        <p:txBody>
          <a:bodyPr/>
          <a:lstStyle/>
          <a:p>
            <a:fld id="{9E3ABCF7-25F5-41B7-9890-C54FB7E9D066}" type="datetimeFigureOut">
              <a:rPr lang="en-US" smtClean="0"/>
              <a:t>10/22/2025</a:t>
            </a:fld>
            <a:endParaRPr lang="en-US"/>
          </a:p>
        </p:txBody>
      </p:sp>
      <p:sp>
        <p:nvSpPr>
          <p:cNvPr id="5" name="Footer Placeholder 4">
            <a:extLst>
              <a:ext uri="{FF2B5EF4-FFF2-40B4-BE49-F238E27FC236}">
                <a16:creationId xmlns:a16="http://schemas.microsoft.com/office/drawing/2014/main" id="{C86929AD-E249-E6D4-6C58-FB0D4F7BB8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0F302E-D33E-7E7E-7F16-F411C609CEDA}"/>
              </a:ext>
            </a:extLst>
          </p:cNvPr>
          <p:cNvSpPr>
            <a:spLocks noGrp="1"/>
          </p:cNvSpPr>
          <p:nvPr>
            <p:ph type="sldNum" sz="quarter" idx="12"/>
          </p:nvPr>
        </p:nvSpPr>
        <p:spPr/>
        <p:txBody>
          <a:bodyPr/>
          <a:lstStyle/>
          <a:p>
            <a:fld id="{50F1D656-935B-43B7-98CB-997AF950564D}" type="slidenum">
              <a:rPr lang="en-US" smtClean="0"/>
              <a:t>‹#›</a:t>
            </a:fld>
            <a:endParaRPr lang="en-US"/>
          </a:p>
        </p:txBody>
      </p:sp>
    </p:spTree>
    <p:extLst>
      <p:ext uri="{BB962C8B-B14F-4D97-AF65-F5344CB8AC3E}">
        <p14:creationId xmlns:p14="http://schemas.microsoft.com/office/powerpoint/2010/main" val="3702613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802A42-1C07-DF96-CEBF-40F5E84DC76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5281FDD-9EE5-E21E-F24A-10D094958E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8434C5-C02D-F1AB-CA9A-F658B1679E2F}"/>
              </a:ext>
            </a:extLst>
          </p:cNvPr>
          <p:cNvSpPr>
            <a:spLocks noGrp="1"/>
          </p:cNvSpPr>
          <p:nvPr>
            <p:ph type="dt" sz="half" idx="10"/>
          </p:nvPr>
        </p:nvSpPr>
        <p:spPr/>
        <p:txBody>
          <a:bodyPr/>
          <a:lstStyle/>
          <a:p>
            <a:fld id="{9E3ABCF7-25F5-41B7-9890-C54FB7E9D066}" type="datetimeFigureOut">
              <a:rPr lang="en-US" smtClean="0"/>
              <a:t>10/22/2025</a:t>
            </a:fld>
            <a:endParaRPr lang="en-US"/>
          </a:p>
        </p:txBody>
      </p:sp>
      <p:sp>
        <p:nvSpPr>
          <p:cNvPr id="5" name="Footer Placeholder 4">
            <a:extLst>
              <a:ext uri="{FF2B5EF4-FFF2-40B4-BE49-F238E27FC236}">
                <a16:creationId xmlns:a16="http://schemas.microsoft.com/office/drawing/2014/main" id="{B0D2165B-CE31-4522-795F-A2AE9919E7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28B37E-3E7E-AE69-E035-CF85784A9B25}"/>
              </a:ext>
            </a:extLst>
          </p:cNvPr>
          <p:cNvSpPr>
            <a:spLocks noGrp="1"/>
          </p:cNvSpPr>
          <p:nvPr>
            <p:ph type="sldNum" sz="quarter" idx="12"/>
          </p:nvPr>
        </p:nvSpPr>
        <p:spPr/>
        <p:txBody>
          <a:bodyPr/>
          <a:lstStyle/>
          <a:p>
            <a:fld id="{50F1D656-935B-43B7-98CB-997AF950564D}" type="slidenum">
              <a:rPr lang="en-US" smtClean="0"/>
              <a:t>‹#›</a:t>
            </a:fld>
            <a:endParaRPr lang="en-US"/>
          </a:p>
        </p:txBody>
      </p:sp>
    </p:spTree>
    <p:extLst>
      <p:ext uri="{BB962C8B-B14F-4D97-AF65-F5344CB8AC3E}">
        <p14:creationId xmlns:p14="http://schemas.microsoft.com/office/powerpoint/2010/main" val="3457500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1EDE69-D00A-E564-ACFE-97675FFC44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42DC910-B4E9-5A61-05E1-A691C91892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FE82C9-35E6-BA15-0B20-3D1711E8F3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E3ABCF7-25F5-41B7-9890-C54FB7E9D066}" type="datetimeFigureOut">
              <a:rPr lang="en-US" smtClean="0"/>
              <a:t>10/22/2025</a:t>
            </a:fld>
            <a:endParaRPr lang="en-US"/>
          </a:p>
        </p:txBody>
      </p:sp>
      <p:sp>
        <p:nvSpPr>
          <p:cNvPr id="5" name="Footer Placeholder 4">
            <a:extLst>
              <a:ext uri="{FF2B5EF4-FFF2-40B4-BE49-F238E27FC236}">
                <a16:creationId xmlns:a16="http://schemas.microsoft.com/office/drawing/2014/main" id="{C1D9465D-080B-BC99-1695-9F933CE987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D120614-FD6A-F961-3D66-5F059FD33C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0F1D656-935B-43B7-98CB-997AF950564D}" type="slidenum">
              <a:rPr lang="en-US" smtClean="0"/>
              <a:t>‹#›</a:t>
            </a:fld>
            <a:endParaRPr lang="en-US"/>
          </a:p>
        </p:txBody>
      </p:sp>
    </p:spTree>
    <p:extLst>
      <p:ext uri="{BB962C8B-B14F-4D97-AF65-F5344CB8AC3E}">
        <p14:creationId xmlns:p14="http://schemas.microsoft.com/office/powerpoint/2010/main" val="18372170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CDF66-6DF1-BDD3-57C1-020CD0E8F42C}"/>
              </a:ext>
            </a:extLst>
          </p:cNvPr>
          <p:cNvSpPr>
            <a:spLocks noGrp="1"/>
          </p:cNvSpPr>
          <p:nvPr>
            <p:ph type="ctrTitle"/>
          </p:nvPr>
        </p:nvSpPr>
        <p:spPr/>
        <p:txBody>
          <a:bodyPr/>
          <a:lstStyle/>
          <a:p>
            <a:r>
              <a:rPr lang="en-US" dirty="0" err="1"/>
              <a:t>DetectRTL</a:t>
            </a:r>
            <a:endParaRPr lang="en-US" dirty="0"/>
          </a:p>
        </p:txBody>
      </p:sp>
      <p:sp>
        <p:nvSpPr>
          <p:cNvPr id="3" name="Subtitle 2">
            <a:extLst>
              <a:ext uri="{FF2B5EF4-FFF2-40B4-BE49-F238E27FC236}">
                <a16:creationId xmlns:a16="http://schemas.microsoft.com/office/drawing/2014/main" id="{F3E6095D-2F9B-98D2-8704-47957117C4F4}"/>
              </a:ext>
            </a:extLst>
          </p:cNvPr>
          <p:cNvSpPr>
            <a:spLocks noGrp="1"/>
          </p:cNvSpPr>
          <p:nvPr>
            <p:ph type="subTitle" idx="1"/>
          </p:nvPr>
        </p:nvSpPr>
        <p:spPr/>
        <p:txBody>
          <a:bodyPr/>
          <a:lstStyle/>
          <a:p>
            <a:r>
              <a:rPr lang="en-US" dirty="0"/>
              <a:t>Goal: Create a tool to automatically detect hardware vulnerabilities using static analysis on RTL code</a:t>
            </a:r>
          </a:p>
        </p:txBody>
      </p:sp>
    </p:spTree>
    <p:extLst>
      <p:ext uri="{BB962C8B-B14F-4D97-AF65-F5344CB8AC3E}">
        <p14:creationId xmlns:p14="http://schemas.microsoft.com/office/powerpoint/2010/main" val="3634292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95DFA-B29C-6CC4-FD89-F29278451F0E}"/>
              </a:ext>
            </a:extLst>
          </p:cNvPr>
          <p:cNvSpPr>
            <a:spLocks noGrp="1"/>
          </p:cNvSpPr>
          <p:nvPr>
            <p:ph type="title"/>
          </p:nvPr>
        </p:nvSpPr>
        <p:spPr/>
        <p:txBody>
          <a:bodyPr/>
          <a:lstStyle/>
          <a:p>
            <a:r>
              <a:rPr lang="en-US" dirty="0"/>
              <a:t>Project Members</a:t>
            </a:r>
          </a:p>
        </p:txBody>
      </p:sp>
      <p:sp>
        <p:nvSpPr>
          <p:cNvPr id="3" name="Content Placeholder 2">
            <a:extLst>
              <a:ext uri="{FF2B5EF4-FFF2-40B4-BE49-F238E27FC236}">
                <a16:creationId xmlns:a16="http://schemas.microsoft.com/office/drawing/2014/main" id="{EB9D0431-3842-F53E-9EFD-13859973E22D}"/>
              </a:ext>
            </a:extLst>
          </p:cNvPr>
          <p:cNvSpPr>
            <a:spLocks noGrp="1"/>
          </p:cNvSpPr>
          <p:nvPr>
            <p:ph idx="1"/>
          </p:nvPr>
        </p:nvSpPr>
        <p:spPr/>
        <p:txBody>
          <a:bodyPr/>
          <a:lstStyle/>
          <a:p>
            <a:r>
              <a:rPr lang="en-US" dirty="0"/>
              <a:t>Group Members</a:t>
            </a:r>
          </a:p>
          <a:p>
            <a:pPr lvl="1"/>
            <a:r>
              <a:rPr lang="en-US" dirty="0"/>
              <a:t>John Parks – parksjh@mail.uc.edu</a:t>
            </a:r>
          </a:p>
          <a:p>
            <a:endParaRPr lang="en-US" dirty="0"/>
          </a:p>
          <a:p>
            <a:r>
              <a:rPr lang="en-US" dirty="0"/>
              <a:t>Project Advisor</a:t>
            </a:r>
          </a:p>
          <a:p>
            <a:pPr lvl="1"/>
            <a:r>
              <a:rPr lang="en-US" dirty="0"/>
              <a:t>Dr. Boyang Wang</a:t>
            </a:r>
          </a:p>
        </p:txBody>
      </p:sp>
    </p:spTree>
    <p:extLst>
      <p:ext uri="{BB962C8B-B14F-4D97-AF65-F5344CB8AC3E}">
        <p14:creationId xmlns:p14="http://schemas.microsoft.com/office/powerpoint/2010/main" val="3642626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944AE-E1E3-9652-B6B0-103DD2CE238F}"/>
              </a:ext>
            </a:extLst>
          </p:cNvPr>
          <p:cNvSpPr>
            <a:spLocks noGrp="1"/>
          </p:cNvSpPr>
          <p:nvPr>
            <p:ph type="title"/>
          </p:nvPr>
        </p:nvSpPr>
        <p:spPr/>
        <p:txBody>
          <a:bodyPr/>
          <a:lstStyle/>
          <a:p>
            <a:r>
              <a:rPr lang="en-US" dirty="0"/>
              <a:t>Project Abstract</a:t>
            </a:r>
          </a:p>
        </p:txBody>
      </p:sp>
      <p:sp>
        <p:nvSpPr>
          <p:cNvPr id="3" name="Content Placeholder 2">
            <a:extLst>
              <a:ext uri="{FF2B5EF4-FFF2-40B4-BE49-F238E27FC236}">
                <a16:creationId xmlns:a16="http://schemas.microsoft.com/office/drawing/2014/main" id="{85147A46-1FF4-9678-059F-2A27FF310807}"/>
              </a:ext>
            </a:extLst>
          </p:cNvPr>
          <p:cNvSpPr>
            <a:spLocks noGrp="1"/>
          </p:cNvSpPr>
          <p:nvPr>
            <p:ph idx="1"/>
          </p:nvPr>
        </p:nvSpPr>
        <p:spPr/>
        <p:txBody>
          <a:bodyPr>
            <a:normAutofit/>
          </a:bodyPr>
          <a:lstStyle/>
          <a:p>
            <a:pPr>
              <a:lnSpc>
                <a:spcPct val="100000"/>
              </a:lnSpc>
            </a:pPr>
            <a:r>
              <a:rPr lang="en-US" sz="2000" dirty="0"/>
              <a:t>This project focuses on developing methodologies and tools for RTL-level secure coding to protect hardware designs from potential attacks. By detecting vulnerabilities at the Register Transfer Level (RTL), the project aims to mitigate potential vulnerabilities early in in the design process. Ultimately, this work contributes to building a static analysis tool that enhances hardware security and resilience against modern hardware-based attacks while maintaining performance and design efficiency</a:t>
            </a:r>
          </a:p>
        </p:txBody>
      </p:sp>
    </p:spTree>
    <p:extLst>
      <p:ext uri="{BB962C8B-B14F-4D97-AF65-F5344CB8AC3E}">
        <p14:creationId xmlns:p14="http://schemas.microsoft.com/office/powerpoint/2010/main" val="2206351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75B92-43D0-B76F-B858-B3DD8960FBA7}"/>
              </a:ext>
            </a:extLst>
          </p:cNvPr>
          <p:cNvSpPr>
            <a:spLocks noGrp="1"/>
          </p:cNvSpPr>
          <p:nvPr>
            <p:ph type="title"/>
          </p:nvPr>
        </p:nvSpPr>
        <p:spPr>
          <a:xfrm>
            <a:off x="762000" y="762001"/>
            <a:ext cx="6823390" cy="1142213"/>
          </a:xfrm>
        </p:spPr>
        <p:txBody>
          <a:bodyPr anchor="ctr">
            <a:normAutofit/>
          </a:bodyPr>
          <a:lstStyle/>
          <a:p>
            <a:r>
              <a:rPr lang="en-US" sz="4000" dirty="0"/>
              <a:t>User Stores &amp; Design Diagrams</a:t>
            </a:r>
          </a:p>
        </p:txBody>
      </p:sp>
      <p:sp>
        <p:nvSpPr>
          <p:cNvPr id="13" name="Content Placeholder 12">
            <a:extLst>
              <a:ext uri="{FF2B5EF4-FFF2-40B4-BE49-F238E27FC236}">
                <a16:creationId xmlns:a16="http://schemas.microsoft.com/office/drawing/2014/main" id="{847DB22C-C6E0-F2EA-CEEB-F61B780D15ED}"/>
              </a:ext>
            </a:extLst>
          </p:cNvPr>
          <p:cNvSpPr>
            <a:spLocks noGrp="1"/>
          </p:cNvSpPr>
          <p:nvPr>
            <p:ph idx="1"/>
          </p:nvPr>
        </p:nvSpPr>
        <p:spPr>
          <a:xfrm>
            <a:off x="762001" y="1904215"/>
            <a:ext cx="6070120" cy="4335862"/>
          </a:xfrm>
        </p:spPr>
        <p:txBody>
          <a:bodyPr anchor="ctr">
            <a:normAutofit/>
          </a:bodyPr>
          <a:lstStyle/>
          <a:p>
            <a:r>
              <a:rPr lang="en-US" sz="2000" dirty="0"/>
              <a:t>As a hardware engineer, I want to check my design for insecure coding patterns so that I can prevent vulnerabilities early in the design process</a:t>
            </a:r>
          </a:p>
          <a:p>
            <a:pPr marL="0" indent="0">
              <a:buNone/>
            </a:pPr>
            <a:endParaRPr lang="en-US" sz="2000" dirty="0"/>
          </a:p>
          <a:p>
            <a:r>
              <a:rPr lang="en-US" sz="2000" dirty="0"/>
              <a:t>As a security auditor, I want to automatically detect vulnerabilities in hardware designs so I can provide accurate security assessments</a:t>
            </a:r>
          </a:p>
          <a:p>
            <a:pPr marL="0" indent="0">
              <a:buNone/>
            </a:pPr>
            <a:endParaRPr lang="en-US" sz="2000" dirty="0"/>
          </a:p>
          <a:p>
            <a:r>
              <a:rPr lang="en-US" sz="2000" dirty="0"/>
              <a:t>As a hardware verification engineer, I want to validate hardware designs are free of potential vulnerabilities so I can ensure hardware designs meet security requirements</a:t>
            </a:r>
          </a:p>
          <a:p>
            <a:endParaRPr lang="en-US" sz="2000" dirty="0"/>
          </a:p>
        </p:txBody>
      </p:sp>
      <p:sp>
        <p:nvSpPr>
          <p:cNvPr id="16" name="Rectangle 15">
            <a:extLst>
              <a:ext uri="{FF2B5EF4-FFF2-40B4-BE49-F238E27FC236}">
                <a16:creationId xmlns:a16="http://schemas.microsoft.com/office/drawing/2014/main" id="{9B47378D-AD27-45D0-8C1C-5B1098DCC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5390" y="0"/>
            <a:ext cx="4606609" cy="6858000"/>
          </a:xfrm>
          <a:prstGeom prst="rect">
            <a:avLst/>
          </a:prstGeom>
          <a:solidFill>
            <a:srgbClr val="FFFFFF"/>
          </a:solidFill>
          <a:ln>
            <a:noFill/>
          </a:ln>
          <a:effectLst>
            <a:outerShdw blurRad="381000" dist="317500" dir="5700000" sx="95000" sy="95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diagram of a computer hardware system&#10;&#10;AI-generated content may be incorrect.">
            <a:extLst>
              <a:ext uri="{FF2B5EF4-FFF2-40B4-BE49-F238E27FC236}">
                <a16:creationId xmlns:a16="http://schemas.microsoft.com/office/drawing/2014/main" id="{48769959-0486-065F-460E-4F905FC9EF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48955" y="2470243"/>
            <a:ext cx="3381043" cy="1749689"/>
          </a:xfrm>
          <a:prstGeom prst="rect">
            <a:avLst/>
          </a:prstGeom>
        </p:spPr>
      </p:pic>
      <p:pic>
        <p:nvPicPr>
          <p:cNvPr id="9" name="Picture 8" descr="A diagram of a computer program&#10;&#10;AI-generated content may be incorrect.">
            <a:extLst>
              <a:ext uri="{FF2B5EF4-FFF2-40B4-BE49-F238E27FC236}">
                <a16:creationId xmlns:a16="http://schemas.microsoft.com/office/drawing/2014/main" id="{7C4186B3-FAE2-315C-C6E8-699306B6DC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98172" y="4845852"/>
            <a:ext cx="3381043" cy="1386227"/>
          </a:xfrm>
          <a:prstGeom prst="rect">
            <a:avLst/>
          </a:prstGeom>
        </p:spPr>
      </p:pic>
      <p:pic>
        <p:nvPicPr>
          <p:cNvPr id="5" name="Content Placeholder 4" descr="A black line on a white background&#10;&#10;AI-generated content may be incorrect.">
            <a:extLst>
              <a:ext uri="{FF2B5EF4-FFF2-40B4-BE49-F238E27FC236}">
                <a16:creationId xmlns:a16="http://schemas.microsoft.com/office/drawing/2014/main" id="{DB368808-0DD5-3B7E-BE10-B3A72C6965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48956" y="762001"/>
            <a:ext cx="3381043" cy="988955"/>
          </a:xfrm>
          <a:prstGeom prst="rect">
            <a:avLst/>
          </a:prstGeom>
        </p:spPr>
      </p:pic>
      <p:cxnSp>
        <p:nvCxnSpPr>
          <p:cNvPr id="11" name="Straight Arrow Connector 10">
            <a:extLst>
              <a:ext uri="{FF2B5EF4-FFF2-40B4-BE49-F238E27FC236}">
                <a16:creationId xmlns:a16="http://schemas.microsoft.com/office/drawing/2014/main" id="{6768939E-A570-7CFB-E95E-3003145CD257}"/>
              </a:ext>
            </a:extLst>
          </p:cNvPr>
          <p:cNvCxnSpPr/>
          <p:nvPr/>
        </p:nvCxnSpPr>
        <p:spPr>
          <a:xfrm>
            <a:off x="9739476" y="1904214"/>
            <a:ext cx="0" cy="25452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54727849-1C74-E0C4-E095-3FB2D138A11E}"/>
              </a:ext>
            </a:extLst>
          </p:cNvPr>
          <p:cNvCxnSpPr/>
          <p:nvPr/>
        </p:nvCxnSpPr>
        <p:spPr>
          <a:xfrm>
            <a:off x="9739476" y="4355159"/>
            <a:ext cx="0" cy="25452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91212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83E63-F51F-857D-DB0A-091E6877530F}"/>
              </a:ext>
            </a:extLst>
          </p:cNvPr>
          <p:cNvSpPr>
            <a:spLocks noGrp="1"/>
          </p:cNvSpPr>
          <p:nvPr>
            <p:ph type="title"/>
          </p:nvPr>
        </p:nvSpPr>
        <p:spPr/>
        <p:txBody>
          <a:bodyPr/>
          <a:lstStyle/>
          <a:p>
            <a:r>
              <a:rPr lang="en-US" dirty="0"/>
              <a:t>Major Project Constraints</a:t>
            </a:r>
          </a:p>
        </p:txBody>
      </p:sp>
      <p:sp>
        <p:nvSpPr>
          <p:cNvPr id="3" name="Content Placeholder 2">
            <a:extLst>
              <a:ext uri="{FF2B5EF4-FFF2-40B4-BE49-F238E27FC236}">
                <a16:creationId xmlns:a16="http://schemas.microsoft.com/office/drawing/2014/main" id="{E85ADF96-11D0-493C-4523-70F3AD57E57A}"/>
              </a:ext>
            </a:extLst>
          </p:cNvPr>
          <p:cNvSpPr>
            <a:spLocks noGrp="1"/>
          </p:cNvSpPr>
          <p:nvPr>
            <p:ph idx="1"/>
          </p:nvPr>
        </p:nvSpPr>
        <p:spPr/>
        <p:txBody>
          <a:bodyPr/>
          <a:lstStyle/>
          <a:p>
            <a:r>
              <a:rPr lang="en-US" dirty="0"/>
              <a:t>Ethical – Vulnerabilities in hardware designs raises ethical questions about reporting them</a:t>
            </a:r>
          </a:p>
          <a:p>
            <a:pPr marL="0" indent="0">
              <a:buNone/>
            </a:pPr>
            <a:endParaRPr lang="en-US" dirty="0"/>
          </a:p>
          <a:p>
            <a:r>
              <a:rPr lang="en-US" dirty="0"/>
              <a:t>Security – Vulnerabilities are weaknesses that can be exploited so these vulnerabilities should not be shared with untrusted parties </a:t>
            </a:r>
          </a:p>
          <a:p>
            <a:pPr marL="0" indent="0">
              <a:buNone/>
            </a:pPr>
            <a:endParaRPr lang="en-US" dirty="0"/>
          </a:p>
          <a:p>
            <a:r>
              <a:rPr lang="en-US" dirty="0"/>
              <a:t>Social – Improving the security of hardware benefits the community by protecting users from potential attacks</a:t>
            </a:r>
          </a:p>
        </p:txBody>
      </p:sp>
    </p:spTree>
    <p:extLst>
      <p:ext uri="{BB962C8B-B14F-4D97-AF65-F5344CB8AC3E}">
        <p14:creationId xmlns:p14="http://schemas.microsoft.com/office/powerpoint/2010/main" val="1117922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07A4E-C7B0-C3B0-1838-3E50D694B700}"/>
              </a:ext>
            </a:extLst>
          </p:cNvPr>
          <p:cNvSpPr>
            <a:spLocks noGrp="1"/>
          </p:cNvSpPr>
          <p:nvPr>
            <p:ph type="title"/>
          </p:nvPr>
        </p:nvSpPr>
        <p:spPr/>
        <p:txBody>
          <a:bodyPr/>
          <a:lstStyle/>
          <a:p>
            <a:r>
              <a:rPr lang="en-US" dirty="0"/>
              <a:t>Project Progress</a:t>
            </a:r>
          </a:p>
        </p:txBody>
      </p:sp>
      <p:sp>
        <p:nvSpPr>
          <p:cNvPr id="3" name="Content Placeholder 2">
            <a:extLst>
              <a:ext uri="{FF2B5EF4-FFF2-40B4-BE49-F238E27FC236}">
                <a16:creationId xmlns:a16="http://schemas.microsoft.com/office/drawing/2014/main" id="{8E0301DE-87F2-43D6-17CD-D517A3A172B9}"/>
              </a:ext>
            </a:extLst>
          </p:cNvPr>
          <p:cNvSpPr>
            <a:spLocks noGrp="1"/>
          </p:cNvSpPr>
          <p:nvPr>
            <p:ph idx="1"/>
          </p:nvPr>
        </p:nvSpPr>
        <p:spPr>
          <a:xfrm>
            <a:off x="838200" y="1825625"/>
            <a:ext cx="5402344" cy="4351338"/>
          </a:xfrm>
        </p:spPr>
        <p:txBody>
          <a:bodyPr/>
          <a:lstStyle/>
          <a:p>
            <a:r>
              <a:rPr lang="en-US" dirty="0"/>
              <a:t>Currently I have detection algorithms for three CWEs</a:t>
            </a:r>
          </a:p>
          <a:p>
            <a:pPr lvl="1"/>
            <a:r>
              <a:rPr lang="en-US" dirty="0"/>
              <a:t>CWE-226</a:t>
            </a:r>
          </a:p>
          <a:p>
            <a:pPr lvl="1"/>
            <a:r>
              <a:rPr lang="en-US" dirty="0"/>
              <a:t>CWE-1233</a:t>
            </a:r>
          </a:p>
          <a:p>
            <a:pPr lvl="1"/>
            <a:r>
              <a:rPr lang="en-US" dirty="0"/>
              <a:t>CWE-1245 </a:t>
            </a:r>
          </a:p>
        </p:txBody>
      </p:sp>
      <p:pic>
        <p:nvPicPr>
          <p:cNvPr id="4" name="Content Placeholder 10" descr="A screenshot of a computer&#10;&#10;AI-generated content may be incorrect.">
            <a:extLst>
              <a:ext uri="{FF2B5EF4-FFF2-40B4-BE49-F238E27FC236}">
                <a16:creationId xmlns:a16="http://schemas.microsoft.com/office/drawing/2014/main" id="{3BB632A0-3847-B119-25B3-E73C2D225A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7564" y="3629320"/>
            <a:ext cx="5093382" cy="2359107"/>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48EE39CB-6499-63D6-A6C9-7E03D9E42F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7564" y="760289"/>
            <a:ext cx="5093382" cy="1995736"/>
          </a:xfrm>
          <a:prstGeom prst="rect">
            <a:avLst/>
          </a:prstGeom>
        </p:spPr>
      </p:pic>
    </p:spTree>
    <p:extLst>
      <p:ext uri="{BB962C8B-B14F-4D97-AF65-F5344CB8AC3E}">
        <p14:creationId xmlns:p14="http://schemas.microsoft.com/office/powerpoint/2010/main" val="99017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E47C9-3C0C-34E4-B1A1-68D5CBBE581B}"/>
              </a:ext>
            </a:extLst>
          </p:cNvPr>
          <p:cNvSpPr>
            <a:spLocks noGrp="1"/>
          </p:cNvSpPr>
          <p:nvPr>
            <p:ph type="title"/>
          </p:nvPr>
        </p:nvSpPr>
        <p:spPr/>
        <p:txBody>
          <a:bodyPr/>
          <a:lstStyle/>
          <a:p>
            <a:r>
              <a:rPr lang="en-US" dirty="0"/>
              <a:t>Expected Accomplishments</a:t>
            </a:r>
          </a:p>
        </p:txBody>
      </p:sp>
      <p:sp>
        <p:nvSpPr>
          <p:cNvPr id="3" name="Content Placeholder 2">
            <a:extLst>
              <a:ext uri="{FF2B5EF4-FFF2-40B4-BE49-F238E27FC236}">
                <a16:creationId xmlns:a16="http://schemas.microsoft.com/office/drawing/2014/main" id="{C7FC4A93-34C2-0327-A2C5-FB9002C1845E}"/>
              </a:ext>
            </a:extLst>
          </p:cNvPr>
          <p:cNvSpPr>
            <a:spLocks noGrp="1"/>
          </p:cNvSpPr>
          <p:nvPr>
            <p:ph idx="1"/>
          </p:nvPr>
        </p:nvSpPr>
        <p:spPr/>
        <p:txBody>
          <a:bodyPr/>
          <a:lstStyle/>
          <a:p>
            <a:r>
              <a:rPr lang="en-US" dirty="0"/>
              <a:t>Create a tool that scans RTL code for vulnerabilities associated to CWEs</a:t>
            </a:r>
          </a:p>
          <a:p>
            <a:r>
              <a:rPr lang="en-US" dirty="0"/>
              <a:t>Write a final report that summarizes my findings</a:t>
            </a:r>
          </a:p>
        </p:txBody>
      </p:sp>
    </p:spTree>
    <p:extLst>
      <p:ext uri="{BB962C8B-B14F-4D97-AF65-F5344CB8AC3E}">
        <p14:creationId xmlns:p14="http://schemas.microsoft.com/office/powerpoint/2010/main" val="37282983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C47F1-6CCB-EEFE-659F-F22C2AF9218F}"/>
              </a:ext>
            </a:extLst>
          </p:cNvPr>
          <p:cNvSpPr>
            <a:spLocks noGrp="1"/>
          </p:cNvSpPr>
          <p:nvPr>
            <p:ph type="title"/>
          </p:nvPr>
        </p:nvSpPr>
        <p:spPr/>
        <p:txBody>
          <a:bodyPr/>
          <a:lstStyle/>
          <a:p>
            <a:r>
              <a:rPr lang="en-US" dirty="0"/>
              <a:t>Division of Work (Major Milestones)</a:t>
            </a:r>
          </a:p>
        </p:txBody>
      </p:sp>
      <p:sp>
        <p:nvSpPr>
          <p:cNvPr id="3" name="Content Placeholder 2">
            <a:extLst>
              <a:ext uri="{FF2B5EF4-FFF2-40B4-BE49-F238E27FC236}">
                <a16:creationId xmlns:a16="http://schemas.microsoft.com/office/drawing/2014/main" id="{061AB9E4-3A11-37CE-7A40-855190362BD4}"/>
              </a:ext>
            </a:extLst>
          </p:cNvPr>
          <p:cNvSpPr>
            <a:spLocks noGrp="1"/>
          </p:cNvSpPr>
          <p:nvPr>
            <p:ph idx="1"/>
          </p:nvPr>
        </p:nvSpPr>
        <p:spPr/>
        <p:txBody>
          <a:bodyPr/>
          <a:lstStyle/>
          <a:p>
            <a:pPr marL="514350" indent="-514350">
              <a:lnSpc>
                <a:spcPct val="150000"/>
              </a:lnSpc>
              <a:buFont typeface="+mj-lt"/>
              <a:buAutoNum type="arabicPeriod"/>
            </a:pPr>
            <a:r>
              <a:rPr lang="en-US" dirty="0"/>
              <a:t>Initial research and select relevant CWEs for detection - John</a:t>
            </a:r>
          </a:p>
          <a:p>
            <a:pPr marL="514350" indent="-514350">
              <a:lnSpc>
                <a:spcPct val="150000"/>
              </a:lnSpc>
              <a:buFont typeface="+mj-lt"/>
              <a:buAutoNum type="arabicPeriod"/>
            </a:pPr>
            <a:r>
              <a:rPr lang="en-US" dirty="0"/>
              <a:t>Dataset collection and creation - John</a:t>
            </a:r>
          </a:p>
          <a:p>
            <a:pPr marL="514350" indent="-514350">
              <a:lnSpc>
                <a:spcPct val="150000"/>
              </a:lnSpc>
              <a:buFont typeface="+mj-lt"/>
              <a:buAutoNum type="arabicPeriod"/>
            </a:pPr>
            <a:r>
              <a:rPr lang="en-US" dirty="0"/>
              <a:t>Implementation of detection methods - John</a:t>
            </a:r>
          </a:p>
          <a:p>
            <a:pPr marL="514350" indent="-514350">
              <a:lnSpc>
                <a:spcPct val="150000"/>
              </a:lnSpc>
              <a:buFont typeface="+mj-lt"/>
              <a:buAutoNum type="arabicPeriod"/>
            </a:pPr>
            <a:r>
              <a:rPr lang="en-US" dirty="0"/>
              <a:t>Weekly reports - John</a:t>
            </a:r>
          </a:p>
          <a:p>
            <a:pPr marL="514350" indent="-514350">
              <a:lnSpc>
                <a:spcPct val="150000"/>
              </a:lnSpc>
              <a:buFont typeface="+mj-lt"/>
              <a:buAutoNum type="arabicPeriod"/>
            </a:pPr>
            <a:r>
              <a:rPr lang="en-US" dirty="0"/>
              <a:t>Final research paper - John</a:t>
            </a:r>
          </a:p>
        </p:txBody>
      </p:sp>
    </p:spTree>
    <p:extLst>
      <p:ext uri="{BB962C8B-B14F-4D97-AF65-F5344CB8AC3E}">
        <p14:creationId xmlns:p14="http://schemas.microsoft.com/office/powerpoint/2010/main" val="3468384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76833-954B-7CB0-C353-05B7900AF971}"/>
              </a:ext>
            </a:extLst>
          </p:cNvPr>
          <p:cNvSpPr>
            <a:spLocks noGrp="1"/>
          </p:cNvSpPr>
          <p:nvPr>
            <p:ph type="title"/>
          </p:nvPr>
        </p:nvSpPr>
        <p:spPr/>
        <p:txBody>
          <a:bodyPr/>
          <a:lstStyle/>
          <a:p>
            <a:r>
              <a:rPr lang="en-US" dirty="0"/>
              <a:t>Expected Demo at Expo</a:t>
            </a:r>
          </a:p>
        </p:txBody>
      </p:sp>
      <p:sp>
        <p:nvSpPr>
          <p:cNvPr id="3" name="Content Placeholder 2">
            <a:extLst>
              <a:ext uri="{FF2B5EF4-FFF2-40B4-BE49-F238E27FC236}">
                <a16:creationId xmlns:a16="http://schemas.microsoft.com/office/drawing/2014/main" id="{A69A78C4-1284-B110-0073-D45EC2370D28}"/>
              </a:ext>
            </a:extLst>
          </p:cNvPr>
          <p:cNvSpPr>
            <a:spLocks noGrp="1"/>
          </p:cNvSpPr>
          <p:nvPr>
            <p:ph idx="1"/>
          </p:nvPr>
        </p:nvSpPr>
        <p:spPr/>
        <p:txBody>
          <a:bodyPr/>
          <a:lstStyle/>
          <a:p>
            <a:pPr marL="0" indent="0">
              <a:buNone/>
            </a:pPr>
            <a:r>
              <a:rPr lang="en-US" dirty="0"/>
              <a:t>At the Expo I will the demo the tool on Verilog or </a:t>
            </a:r>
            <a:r>
              <a:rPr lang="en-US" dirty="0" err="1"/>
              <a:t>SystemVerilog</a:t>
            </a:r>
            <a:r>
              <a:rPr lang="en-US" dirty="0"/>
              <a:t> hardware design files to show how vulnerabilities are detected and reported.</a:t>
            </a:r>
          </a:p>
        </p:txBody>
      </p:sp>
    </p:spTree>
    <p:extLst>
      <p:ext uri="{BB962C8B-B14F-4D97-AF65-F5344CB8AC3E}">
        <p14:creationId xmlns:p14="http://schemas.microsoft.com/office/powerpoint/2010/main" val="3680427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224</TotalTime>
  <Words>341</Words>
  <Application>Microsoft Office PowerPoint</Application>
  <PresentationFormat>Widescreen</PresentationFormat>
  <Paragraphs>38</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DetectRTL</vt:lpstr>
      <vt:lpstr>Project Members</vt:lpstr>
      <vt:lpstr>Project Abstract</vt:lpstr>
      <vt:lpstr>User Stores &amp; Design Diagrams</vt:lpstr>
      <vt:lpstr>Major Project Constraints</vt:lpstr>
      <vt:lpstr>Project Progress</vt:lpstr>
      <vt:lpstr>Expected Accomplishments</vt:lpstr>
      <vt:lpstr>Division of Work (Major Milestones)</vt:lpstr>
      <vt:lpstr>Expected Demo at Expo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Parks, John (parksjh)</dc:creator>
  <cp:lastModifiedBy>John</cp:lastModifiedBy>
  <cp:revision>5</cp:revision>
  <dcterms:created xsi:type="dcterms:W3CDTF">2025-10-22T21:55:16Z</dcterms:created>
  <dcterms:modified xsi:type="dcterms:W3CDTF">2025-10-23T01:40:09Z</dcterms:modified>
</cp:coreProperties>
</file>