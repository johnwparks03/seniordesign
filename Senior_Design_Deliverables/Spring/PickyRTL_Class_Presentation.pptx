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58" r:id="rId6"/>
    <p:sldId id="261" r:id="rId7"/>
    <p:sldId id="260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14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E162A-22EE-4D04-902E-C1ABF482646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D158B-D945-432E-B81F-918C036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8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Combinational</a:t>
            </a:r>
            <a:r>
              <a:rPr lang="en-US" dirty="0"/>
              <a:t> = pure function of inputs (no clock, no memory) (outside of always)</a:t>
            </a:r>
          </a:p>
          <a:p>
            <a:r>
              <a:rPr lang="en-US" dirty="0"/>
              <a:t> </a:t>
            </a:r>
            <a:r>
              <a:rPr lang="en-US" b="1" dirty="0"/>
              <a:t>Sequential</a:t>
            </a:r>
            <a:r>
              <a:rPr lang="en-US" dirty="0"/>
              <a:t> = depends on history (uses clock, has registers) (always @(posedge </a:t>
            </a:r>
            <a:r>
              <a:rPr lang="en-US" dirty="0" err="1"/>
              <a:t>clk</a:t>
            </a:r>
            <a:r>
              <a:rPr lang="en-US" dirty="0"/>
              <a:t>) begin)</a:t>
            </a:r>
          </a:p>
          <a:p>
            <a:endParaRPr lang="en-US" dirty="0"/>
          </a:p>
          <a:p>
            <a:r>
              <a:rPr lang="en-US" dirty="0"/>
              <a:t>Why RTL? – Human-readable, which enables static analysis, catching weaknesses earlier, is easier and less costly to fix</a:t>
            </a:r>
          </a:p>
          <a:p>
            <a:endParaRPr lang="en-US" dirty="0"/>
          </a:p>
          <a:p>
            <a:r>
              <a:rPr lang="en-US" dirty="0"/>
              <a:t>System specification – architectural requirements</a:t>
            </a:r>
          </a:p>
          <a:p>
            <a:r>
              <a:rPr lang="en-US" dirty="0"/>
              <a:t>RTL – coding the chip design, describes data movement and logic operations between registers, what the circuit does</a:t>
            </a:r>
          </a:p>
          <a:p>
            <a:r>
              <a:rPr lang="en-US" dirty="0"/>
              <a:t>Logic synthesis – gates and netlists, simulation of code and analysis of timing/functionality</a:t>
            </a:r>
          </a:p>
          <a:p>
            <a:r>
              <a:rPr lang="en-US" dirty="0"/>
              <a:t>Physical design – layout of the chip</a:t>
            </a:r>
          </a:p>
          <a:p>
            <a:r>
              <a:rPr lang="en-US" dirty="0"/>
              <a:t>Fabrication - silicon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82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Vulnerability – an exploitable flaw that can be exploited in a deployed system</a:t>
            </a:r>
          </a:p>
          <a:p>
            <a:endParaRPr lang="en-US" dirty="0"/>
          </a:p>
          <a:p>
            <a:r>
              <a:rPr lang="en-US" dirty="0"/>
              <a:t>The CWEs were selected based on their ability to be detected through static analysis and their relevance in the 2021 MIHW list and 2025 MIHW list</a:t>
            </a:r>
          </a:p>
          <a:p>
            <a:endParaRPr lang="en-US" dirty="0"/>
          </a:p>
          <a:p>
            <a:r>
              <a:rPr lang="en-US" dirty="0"/>
              <a:t>Provides a standardized framework for identifying, categorizing, and preventing security issues during development</a:t>
            </a:r>
          </a:p>
          <a:p>
            <a:endParaRPr lang="en-US" dirty="0"/>
          </a:p>
          <a:p>
            <a:r>
              <a:rPr lang="en-US" dirty="0"/>
              <a:t>It is maintained by MITRE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HDL files with HDL convertor into a JSON AST format</a:t>
            </a:r>
          </a:p>
          <a:p>
            <a:r>
              <a:rPr lang="en-US" dirty="0"/>
              <a:t>Then we extract relevant data (FSM, cryptographic modules, security critical registers) from the AST</a:t>
            </a:r>
          </a:p>
          <a:p>
            <a:r>
              <a:rPr lang="en-US" dirty="0"/>
              <a:t>Then we run through the detection algorithms and receive a vulnerability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90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patterns can lead to consequences. The example shows an FSM with incomplete state coverage. The state variable ‘</a:t>
            </a:r>
            <a:r>
              <a:rPr lang="en-US" dirty="0" err="1"/>
              <a:t>user_input</a:t>
            </a:r>
            <a:r>
              <a:rPr lang="en-US" dirty="0"/>
              <a:t>’ has 4 possible values because it is 2 bits long.  There are originally only 3 defined states. If ‘</a:t>
            </a:r>
            <a:r>
              <a:rPr lang="en-US" dirty="0" err="1"/>
              <a:t>user_input</a:t>
            </a:r>
            <a:r>
              <a:rPr lang="en-US" dirty="0"/>
              <a:t>’ had a value of 2’h3 the system would enter an unpredictable state and could possibly be exploited</a:t>
            </a:r>
          </a:p>
          <a:p>
            <a:endParaRPr lang="en-US" dirty="0"/>
          </a:p>
          <a:p>
            <a:r>
              <a:rPr lang="en-US" dirty="0"/>
              <a:t>Could be exploited through fault injection attacks</a:t>
            </a:r>
          </a:p>
          <a:p>
            <a:endParaRPr lang="en-US" dirty="0"/>
          </a:p>
          <a:p>
            <a:r>
              <a:rPr lang="en-US" dirty="0"/>
              <a:t>2 – 2 bit width</a:t>
            </a:r>
          </a:p>
          <a:p>
            <a:r>
              <a:rPr lang="en-US" dirty="0"/>
              <a:t>H – hexadecimal </a:t>
            </a:r>
          </a:p>
          <a:p>
            <a:r>
              <a:rPr lang="en-US" dirty="0"/>
              <a:t>3 -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12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Security-critical registers – boot configurations, control settings, debug interface controls, keys</a:t>
            </a:r>
          </a:p>
          <a:p>
            <a:endParaRPr lang="en-US" dirty="0"/>
          </a:p>
          <a:p>
            <a:r>
              <a:rPr lang="en-US" dirty="0"/>
              <a:t>The example shows a key in some cryptographic module that should be protected with lock bit, but is not.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30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shows a hashing module where the input message is not cleared. If this is not cleared then the </a:t>
            </a:r>
            <a:r>
              <a:rPr lang="en-US" dirty="0" err="1"/>
              <a:t>unhashed</a:t>
            </a:r>
            <a:r>
              <a:rPr lang="en-US" dirty="0"/>
              <a:t> input message will remain on that register and could be accessed by an untrusted party/process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79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Intermediate results can give attackers a chance to decipher the original message</a:t>
            </a:r>
          </a:p>
          <a:p>
            <a:endParaRPr lang="en-US" dirty="0"/>
          </a:p>
          <a:p>
            <a:r>
              <a:rPr lang="en-US" dirty="0"/>
              <a:t>The result in the example should not be driven to the </a:t>
            </a:r>
            <a:r>
              <a:rPr lang="en-US" dirty="0" err="1"/>
              <a:t>data_o</a:t>
            </a:r>
            <a:r>
              <a:rPr lang="en-US" dirty="0"/>
              <a:t> output before the result is actually valid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158B-D945-432E-B81F-918C036420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45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472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7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1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3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2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7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9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818C0CA-43BB-4F66-B51F-F3CA6C5C91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2BA5F4E-08E2-4921-A889-B94CE0CF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0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A610-2644-B20B-E1F9-537A5B8D7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PickyRTL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F20C5-CCEB-6B96-3FD1-06B1C3F52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5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453C-B208-C9E1-F594-23D00464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Background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B3D8D-8E61-BE90-497F-D9FD8EC56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Research Project </a:t>
            </a:r>
            <a:r>
              <a:rPr lang="en-US" dirty="0"/>
              <a:t>Title: RTL-level Secure Coding against Hardware Attacks</a:t>
            </a:r>
          </a:p>
          <a:p>
            <a:pPr lvl="1"/>
            <a:r>
              <a:rPr lang="en-US" dirty="0"/>
              <a:t>The main goal is to implement detection algorithms for CWEs</a:t>
            </a:r>
          </a:p>
          <a:p>
            <a:r>
              <a:rPr lang="en-US" dirty="0"/>
              <a:t>Register Transfer Level (RTL) </a:t>
            </a:r>
          </a:p>
          <a:p>
            <a:pPr lvl="1"/>
            <a:r>
              <a:rPr lang="en-US" dirty="0"/>
              <a:t>Part of the hardware design process</a:t>
            </a:r>
          </a:p>
          <a:p>
            <a:pPr lvl="1"/>
            <a:r>
              <a:rPr lang="en-US" dirty="0"/>
              <a:t>Is a hardware description abstraction</a:t>
            </a:r>
          </a:p>
          <a:p>
            <a:pPr lvl="1"/>
            <a:r>
              <a:rPr lang="en-US" dirty="0"/>
              <a:t>Defines digital circuit behavior in terms of data flow between registers</a:t>
            </a:r>
          </a:p>
          <a:p>
            <a:pPr lvl="1"/>
            <a:r>
              <a:rPr lang="en-US" dirty="0"/>
              <a:t>Is written in a Hardware Description Language (HDL) </a:t>
            </a:r>
          </a:p>
          <a:p>
            <a:pPr lvl="2"/>
            <a:r>
              <a:rPr lang="en-US" dirty="0"/>
              <a:t>Verilog, </a:t>
            </a:r>
            <a:r>
              <a:rPr lang="en-US" dirty="0" err="1"/>
              <a:t>SystemVerilog</a:t>
            </a:r>
            <a:r>
              <a:rPr lang="en-US" dirty="0"/>
              <a:t>, VHDL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940A6-1001-BA3E-B323-2AAA98BF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21109"/>
            <a:ext cx="10088383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97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17D8-2499-C55B-DF98-7453D77A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CBCD-B003-2A3F-0841-B38246FE3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Stands for Common Weakness Enumeration</a:t>
            </a:r>
          </a:p>
          <a:p>
            <a:r>
              <a:rPr lang="en-US" dirty="0"/>
              <a:t>List of common hardware and software weakness types </a:t>
            </a:r>
          </a:p>
          <a:p>
            <a:r>
              <a:rPr lang="en-US" dirty="0"/>
              <a:t>Weakness – a condition that under certain circumstances, could contribute to the introduction of vulnerabilities</a:t>
            </a:r>
          </a:p>
          <a:p>
            <a:r>
              <a:rPr lang="en-US" dirty="0"/>
              <a:t>Selected 4 CWEs for static analysis detection</a:t>
            </a:r>
          </a:p>
          <a:p>
            <a:pPr lvl="1"/>
            <a:r>
              <a:rPr lang="en-US" dirty="0"/>
              <a:t>CWE-1245</a:t>
            </a:r>
          </a:p>
          <a:p>
            <a:pPr lvl="1"/>
            <a:r>
              <a:rPr lang="en-US" dirty="0"/>
              <a:t>CWE-1233</a:t>
            </a:r>
          </a:p>
          <a:p>
            <a:pPr lvl="1"/>
            <a:r>
              <a:rPr lang="en-US" dirty="0"/>
              <a:t>CWE-226</a:t>
            </a:r>
          </a:p>
          <a:p>
            <a:pPr lvl="1"/>
            <a:r>
              <a:rPr lang="en-US" dirty="0"/>
              <a:t>CWE-1431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4C88C-1D05-0CCD-8572-16681FD69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427" y="575945"/>
            <a:ext cx="5496692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1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C039-A5BA-83FE-0372-3CBE9F81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 Overview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6A9D2-FF6C-7822-65E9-58069D307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08120"/>
            <a:ext cx="10137739" cy="2139156"/>
          </a:xfrm>
        </p:spPr>
      </p:pic>
    </p:spTree>
    <p:extLst>
      <p:ext uri="{BB962C8B-B14F-4D97-AF65-F5344CB8AC3E}">
        <p14:creationId xmlns:p14="http://schemas.microsoft.com/office/powerpoint/2010/main" val="981939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A97A-C580-66D3-16C1-1D1A7921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30678"/>
            <a:ext cx="9692640" cy="1325562"/>
          </a:xfrm>
        </p:spPr>
        <p:txBody>
          <a:bodyPr/>
          <a:lstStyle/>
          <a:p>
            <a:r>
              <a:rPr lang="en-US" dirty="0"/>
              <a:t>CWE-1245: Improper Finite State Machines (FSMs) in Hardware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572D-58AF-012F-FD97-EF8E6283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56240"/>
            <a:ext cx="8567928" cy="43513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FSMs are commonly used in hardware logic for secure data operations, security state, and other functionality</a:t>
            </a:r>
          </a:p>
          <a:p>
            <a:r>
              <a:rPr lang="en-US" dirty="0"/>
              <a:t>Vulnerable Patterns</a:t>
            </a:r>
          </a:p>
          <a:p>
            <a:pPr lvl="1"/>
            <a:r>
              <a:rPr lang="en-US" dirty="0"/>
              <a:t>Deadlocks</a:t>
            </a:r>
          </a:p>
          <a:p>
            <a:pPr lvl="1"/>
            <a:r>
              <a:rPr lang="en-US" dirty="0"/>
              <a:t>Unreachable states</a:t>
            </a:r>
          </a:p>
          <a:p>
            <a:pPr lvl="1"/>
            <a:r>
              <a:rPr lang="en-US" dirty="0"/>
              <a:t>Incomplete state coverage</a:t>
            </a:r>
          </a:p>
          <a:p>
            <a:r>
              <a:rPr lang="en-US" dirty="0"/>
              <a:t>Consequences</a:t>
            </a:r>
          </a:p>
          <a:p>
            <a:pPr lvl="1"/>
            <a:r>
              <a:rPr lang="en-US" dirty="0"/>
              <a:t>System could enter a deadlocked state</a:t>
            </a:r>
          </a:p>
          <a:p>
            <a:pPr lvl="1"/>
            <a:r>
              <a:rPr lang="en-US" dirty="0"/>
              <a:t>Bypass security authentication</a:t>
            </a:r>
          </a:p>
          <a:p>
            <a:pPr lvl="1"/>
            <a:r>
              <a:rPr lang="en-US" dirty="0"/>
              <a:t>Unpredictable system behavior</a:t>
            </a:r>
          </a:p>
          <a:p>
            <a:r>
              <a:rPr lang="en-US" dirty="0"/>
              <a:t>Detection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Incomplete state coverage?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Unreachable states?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Deadlock states?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617220" lvl="1" indent="-34290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198A2-7270-DBC1-CBD3-A0021F0A3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934" y="3005547"/>
            <a:ext cx="5072194" cy="177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4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0E60-683D-F602-0553-E119AA26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CAE5-F8DA-850E-B80C-45B63B60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CWE-1233: Security Sensitive Hardware Controls with Missing Lock Bit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FEFC1-D154-EBA7-D081-C2683B6A8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691322"/>
            <a:ext cx="8775746" cy="4351337"/>
          </a:xfrm>
        </p:spPr>
        <p:txBody>
          <a:bodyPr/>
          <a:lstStyle/>
          <a:p>
            <a:r>
              <a:rPr lang="en-US" dirty="0"/>
              <a:t>Lock Bit – A hardware mechanism that prevents modification of registers after they have been set</a:t>
            </a:r>
          </a:p>
          <a:p>
            <a:r>
              <a:rPr lang="en-US" dirty="0"/>
              <a:t>Security-critical registers should be protected with lock bits</a:t>
            </a:r>
          </a:p>
          <a:p>
            <a:r>
              <a:rPr lang="en-US" dirty="0"/>
              <a:t>Consequences</a:t>
            </a:r>
          </a:p>
          <a:p>
            <a:pPr lvl="1"/>
            <a:r>
              <a:rPr lang="en-US" dirty="0"/>
              <a:t>Security policies could be bypassed if access controls are modified</a:t>
            </a:r>
          </a:p>
          <a:p>
            <a:pPr lvl="1"/>
            <a:r>
              <a:rPr lang="en-US" dirty="0"/>
              <a:t>Keys could be overwritten</a:t>
            </a:r>
          </a:p>
          <a:p>
            <a:r>
              <a:rPr lang="en-US" dirty="0"/>
              <a:t>Detection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Identify the lock bit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Gather security-critical registers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Are assignments made to the registers unprotected?</a:t>
            </a:r>
          </a:p>
          <a:p>
            <a:pPr marL="617220" lvl="1" indent="-342900">
              <a:buFont typeface="+mj-lt"/>
              <a:buAutoNum type="arabicPeriod"/>
            </a:pPr>
            <a:endParaRPr lang="en-US" dirty="0"/>
          </a:p>
          <a:p>
            <a:pPr marL="617220" lvl="1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68392-1E13-24F2-3D0A-5474BAAFF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372" y="5316827"/>
            <a:ext cx="5881255" cy="154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08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EDEA-F86D-A748-026F-FFCD6405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6B5078-8CE2-CBC1-D679-BBD512D8B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03" y="3148446"/>
            <a:ext cx="4399316" cy="1926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91FD5-0B0D-DD29-E64A-22BC9255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CWE-226: Sensitive Information in Resource Not Removed Before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CFE2-70BF-4E79-F622-74A4BD108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Registers often store sensitive information such as cryptographic keys, authentication tokens, etc.</a:t>
            </a:r>
          </a:p>
          <a:p>
            <a:r>
              <a:rPr lang="en-US" dirty="0"/>
              <a:t>If the registers aren’t cleared after being used, the data persists and can be accessed by subsequent operations</a:t>
            </a:r>
          </a:p>
          <a:p>
            <a:r>
              <a:rPr lang="en-US" dirty="0"/>
              <a:t>Consequences</a:t>
            </a:r>
          </a:p>
          <a:p>
            <a:pPr lvl="1"/>
            <a:r>
              <a:rPr lang="en-US" dirty="0"/>
              <a:t>Cryptographic key leakage to unauthorized process</a:t>
            </a:r>
          </a:p>
          <a:p>
            <a:pPr lvl="1"/>
            <a:r>
              <a:rPr lang="en-US" dirty="0"/>
              <a:t>Sensitive data could be accessed by untrusted parties	</a:t>
            </a:r>
          </a:p>
          <a:p>
            <a:r>
              <a:rPr lang="en-US" dirty="0"/>
              <a:t>Detection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Identify the reset signal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Gather registers that need to be reset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Are the registers properly reset?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5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7C66-6406-5A7F-B4F3-03988BFE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655C-086E-1EFA-31B6-5F2559D0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CWE-1431: Driving Intermediate Cryptographic State/Results to Hardware Module Outputs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96F5-A5DB-1AF2-AC83-DEA73434E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40" cy="4351337"/>
          </a:xfrm>
        </p:spPr>
        <p:txBody>
          <a:bodyPr/>
          <a:lstStyle/>
          <a:p>
            <a:r>
              <a:rPr lang="en-US" dirty="0"/>
              <a:t> Cryptographic modules often involve intermediate results between rounds of encryption</a:t>
            </a:r>
          </a:p>
          <a:p>
            <a:r>
              <a:rPr lang="en-US" dirty="0"/>
              <a:t>These results should remain internal and not be exposed to output ports</a:t>
            </a:r>
          </a:p>
          <a:p>
            <a:r>
              <a:rPr lang="en-US" dirty="0"/>
              <a:t>Consequences</a:t>
            </a:r>
          </a:p>
          <a:p>
            <a:pPr lvl="1"/>
            <a:r>
              <a:rPr lang="en-US" dirty="0"/>
              <a:t>Intermediate results could be observed by untrusted parties through side channel attacks</a:t>
            </a:r>
          </a:p>
          <a:p>
            <a:r>
              <a:rPr lang="en-US" dirty="0"/>
              <a:t>Detection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Identify the cryptographic module output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Find any registers containing intermediate results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Are intermediate results assigned to the module output before checking if the result is valid?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60D54-9FFA-3E34-3E17-0ADE95A9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557" y="5245079"/>
            <a:ext cx="6524179" cy="161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8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6532-390B-9B8B-CEF5-58A733F3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6D23-55D0-1B26-DB17-8421DC5F8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1509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390</TotalTime>
  <Words>809</Words>
  <Application>Microsoft Office PowerPoint</Application>
  <PresentationFormat>Widescreen</PresentationFormat>
  <Paragraphs>109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Schoolbook</vt:lpstr>
      <vt:lpstr>Wingdings 2</vt:lpstr>
      <vt:lpstr>View</vt:lpstr>
      <vt:lpstr>PickyRTL</vt:lpstr>
      <vt:lpstr>Project Background </vt:lpstr>
      <vt:lpstr>What is CWE?</vt:lpstr>
      <vt:lpstr>Detection Overview</vt:lpstr>
      <vt:lpstr>CWE-1245: Improper Finite State Machines (FSMs) in Hardware Logic</vt:lpstr>
      <vt:lpstr>CWE-1233: Security Sensitive Hardware Controls with Missing Lock Bit Protection</vt:lpstr>
      <vt:lpstr>CWE-226: Sensitive Information in Resource Not Removed Before Reuse</vt:lpstr>
      <vt:lpstr>CWE-1431: Driving Intermediate Cryptographic State/Results to Hardware Module Outputs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Parks, John (parksjh)</dc:creator>
  <cp:lastModifiedBy>John</cp:lastModifiedBy>
  <cp:revision>8</cp:revision>
  <dcterms:created xsi:type="dcterms:W3CDTF">2026-01-16T13:44:25Z</dcterms:created>
  <dcterms:modified xsi:type="dcterms:W3CDTF">2026-01-20T21:13:40Z</dcterms:modified>
</cp:coreProperties>
</file>