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sldIdLst>
    <p:sldId id="264" r:id="rId2"/>
  </p:sldIdLst>
  <p:sldSz cx="43891200" cy="32918400"/>
  <p:notesSz cx="32461200" cy="43434000"/>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10368">
          <p15:clr>
            <a:srgbClr val="A4A3A4"/>
          </p15:clr>
        </p15:guide>
        <p15:guide id="2" pos="6768" userDrawn="1">
          <p15:clr>
            <a:srgbClr val="A4A3A4"/>
          </p15:clr>
        </p15:guide>
        <p15:guide id="3" pos="20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6994"/>
    <a:srgbClr val="008600"/>
    <a:srgbClr val="00AC00"/>
    <a:srgbClr val="FFFA00"/>
    <a:srgbClr val="6DC0FF"/>
    <a:srgbClr val="D22030"/>
    <a:srgbClr val="00D200"/>
    <a:srgbClr val="00FF00"/>
    <a:srgbClr val="A365D1"/>
    <a:srgbClr val="1199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91" autoAdjust="0"/>
    <p:restoredTop sz="75182" autoAdjust="0"/>
  </p:normalViewPr>
  <p:slideViewPr>
    <p:cSldViewPr>
      <p:cViewPr varScale="1">
        <p:scale>
          <a:sx n="23" d="100"/>
          <a:sy n="23" d="100"/>
        </p:scale>
        <p:origin x="570" y="102"/>
      </p:cViewPr>
      <p:guideLst>
        <p:guide orient="horz" pos="10368"/>
        <p:guide pos="6768"/>
        <p:guide pos="20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14066520" cy="2171700"/>
          </a:xfrm>
          <a:prstGeom prst="rect">
            <a:avLst/>
          </a:prstGeom>
          <a:noFill/>
          <a:ln w="9525">
            <a:noFill/>
            <a:miter lim="800000"/>
            <a:headEnd/>
            <a:tailEnd/>
          </a:ln>
        </p:spPr>
        <p:txBody>
          <a:bodyPr vert="horz" wrap="square" lIns="433660" tIns="216832" rIns="433660" bIns="216832" numCol="1" anchor="t" anchorCtr="0" compatLnSpc="1">
            <a:prstTxWarp prst="textNoShape">
              <a:avLst/>
            </a:prstTxWarp>
          </a:bodyPr>
          <a:lstStyle>
            <a:lvl1pPr>
              <a:defRPr sz="5800">
                <a:ea typeface="ＭＳ Ｐゴシック" pitchFamily="-109" charset="-128"/>
                <a:cs typeface="+mn-cs"/>
              </a:defRPr>
            </a:lvl1pPr>
          </a:lstStyle>
          <a:p>
            <a:pPr>
              <a:defRPr/>
            </a:pPr>
            <a:endParaRPr lang="en-US"/>
          </a:p>
        </p:txBody>
      </p:sp>
      <p:sp>
        <p:nvSpPr>
          <p:cNvPr id="8195" name="Rectangle 3"/>
          <p:cNvSpPr>
            <a:spLocks noGrp="1" noChangeArrowheads="1"/>
          </p:cNvSpPr>
          <p:nvPr>
            <p:ph type="dt" idx="1"/>
          </p:nvPr>
        </p:nvSpPr>
        <p:spPr bwMode="auto">
          <a:xfrm>
            <a:off x="18394680" y="0"/>
            <a:ext cx="14066520" cy="2171700"/>
          </a:xfrm>
          <a:prstGeom prst="rect">
            <a:avLst/>
          </a:prstGeom>
          <a:noFill/>
          <a:ln w="9525">
            <a:noFill/>
            <a:miter lim="800000"/>
            <a:headEnd/>
            <a:tailEnd/>
          </a:ln>
        </p:spPr>
        <p:txBody>
          <a:bodyPr vert="horz" wrap="square" lIns="433660" tIns="216832" rIns="433660" bIns="216832" numCol="1" anchor="t" anchorCtr="0" compatLnSpc="1">
            <a:prstTxWarp prst="textNoShape">
              <a:avLst/>
            </a:prstTxWarp>
          </a:bodyPr>
          <a:lstStyle>
            <a:lvl1pPr algn="r">
              <a:defRPr sz="5800">
                <a:ea typeface="ＭＳ Ｐゴシック" pitchFamily="-109" charset="-128"/>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5373688" y="3260725"/>
            <a:ext cx="21715412" cy="1628775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txBody>
          <a:bodyPr/>
          <a:lstStyle/>
          <a:p>
            <a:endParaRPr lang="en-US"/>
          </a:p>
        </p:txBody>
      </p:sp>
      <p:sp>
        <p:nvSpPr>
          <p:cNvPr id="8197" name="Rectangle 5"/>
          <p:cNvSpPr>
            <a:spLocks noGrp="1" noChangeArrowheads="1"/>
          </p:cNvSpPr>
          <p:nvPr>
            <p:ph type="body" sz="quarter" idx="3"/>
          </p:nvPr>
        </p:nvSpPr>
        <p:spPr bwMode="auto">
          <a:xfrm>
            <a:off x="4328160" y="20631150"/>
            <a:ext cx="23804880" cy="19545300"/>
          </a:xfrm>
          <a:prstGeom prst="rect">
            <a:avLst/>
          </a:prstGeom>
          <a:noFill/>
          <a:ln w="9525">
            <a:noFill/>
            <a:miter lim="800000"/>
            <a:headEnd/>
            <a:tailEnd/>
          </a:ln>
        </p:spPr>
        <p:txBody>
          <a:bodyPr vert="horz" wrap="square" lIns="433660" tIns="216832" rIns="433660" bIns="21683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8" name="Rectangle 6"/>
          <p:cNvSpPr>
            <a:spLocks noGrp="1" noChangeArrowheads="1"/>
          </p:cNvSpPr>
          <p:nvPr>
            <p:ph type="ftr" sz="quarter" idx="4"/>
          </p:nvPr>
        </p:nvSpPr>
        <p:spPr bwMode="auto">
          <a:xfrm>
            <a:off x="0" y="41262300"/>
            <a:ext cx="14066520" cy="2171700"/>
          </a:xfrm>
          <a:prstGeom prst="rect">
            <a:avLst/>
          </a:prstGeom>
          <a:noFill/>
          <a:ln w="9525">
            <a:noFill/>
            <a:miter lim="800000"/>
            <a:headEnd/>
            <a:tailEnd/>
          </a:ln>
        </p:spPr>
        <p:txBody>
          <a:bodyPr vert="horz" wrap="square" lIns="433660" tIns="216832" rIns="433660" bIns="216832" numCol="1" anchor="b" anchorCtr="0" compatLnSpc="1">
            <a:prstTxWarp prst="textNoShape">
              <a:avLst/>
            </a:prstTxWarp>
          </a:bodyPr>
          <a:lstStyle>
            <a:lvl1pPr>
              <a:defRPr sz="5800">
                <a:ea typeface="ＭＳ Ｐゴシック" pitchFamily="-109" charset="-128"/>
                <a:cs typeface="+mn-cs"/>
              </a:defRPr>
            </a:lvl1pPr>
          </a:lstStyle>
          <a:p>
            <a:pPr>
              <a:defRPr/>
            </a:pPr>
            <a:endParaRPr lang="en-US"/>
          </a:p>
        </p:txBody>
      </p:sp>
      <p:sp>
        <p:nvSpPr>
          <p:cNvPr id="8199" name="Rectangle 7"/>
          <p:cNvSpPr>
            <a:spLocks noGrp="1" noChangeArrowheads="1"/>
          </p:cNvSpPr>
          <p:nvPr>
            <p:ph type="sldNum" sz="quarter" idx="5"/>
          </p:nvPr>
        </p:nvSpPr>
        <p:spPr bwMode="auto">
          <a:xfrm>
            <a:off x="18394680" y="41262300"/>
            <a:ext cx="14066520" cy="2171700"/>
          </a:xfrm>
          <a:prstGeom prst="rect">
            <a:avLst/>
          </a:prstGeom>
          <a:noFill/>
          <a:ln w="9525">
            <a:noFill/>
            <a:miter lim="800000"/>
            <a:headEnd/>
            <a:tailEnd/>
          </a:ln>
        </p:spPr>
        <p:txBody>
          <a:bodyPr vert="horz" wrap="square" lIns="433660" tIns="216832" rIns="433660" bIns="216832" numCol="1" anchor="b" anchorCtr="0" compatLnSpc="1">
            <a:prstTxWarp prst="textNoShape">
              <a:avLst/>
            </a:prstTxWarp>
          </a:bodyPr>
          <a:lstStyle>
            <a:lvl1pPr algn="r">
              <a:defRPr sz="5800"/>
            </a:lvl1pPr>
          </a:lstStyle>
          <a:p>
            <a:pPr>
              <a:defRPr/>
            </a:pPr>
            <a:fld id="{DF53CEDA-3E2A-A641-A760-C50CD9A821AF}" type="slidenum">
              <a:rPr lang="en-US"/>
              <a:pPr>
                <a:defRPr/>
              </a:pPr>
              <a:t>‹#›</a:t>
            </a:fld>
            <a:endParaRPr lang="en-US"/>
          </a:p>
        </p:txBody>
      </p:sp>
    </p:spTree>
    <p:extLst>
      <p:ext uri="{BB962C8B-B14F-4D97-AF65-F5344CB8AC3E}">
        <p14:creationId xmlns:p14="http://schemas.microsoft.com/office/powerpoint/2010/main" val="32755308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09" charset="-128"/>
        <a:cs typeface="ＭＳ Ｐゴシック"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p:cNvSpPr>
          <p:nvPr>
            <p:ph type="sldImg"/>
          </p:nvPr>
        </p:nvSpPr>
        <p:spPr>
          <a:ln/>
        </p:spPr>
        <p:txBody>
          <a:bodyPr/>
          <a:lstStyle/>
          <a:p>
            <a:endParaRPr lang="en-US"/>
          </a:p>
        </p:txBody>
      </p:sp>
      <p:sp>
        <p:nvSpPr>
          <p:cNvPr id="14338"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dirty="0">
                <a:ea typeface="ＭＳ Ｐゴシック" charset="0"/>
              </a:rPr>
              <a:t>Font Sizes:</a:t>
            </a:r>
          </a:p>
          <a:p>
            <a:r>
              <a:rPr lang="en-US" dirty="0">
                <a:ea typeface="ＭＳ Ｐゴシック" charset="0"/>
              </a:rPr>
              <a:t>Title: 96</a:t>
            </a:r>
          </a:p>
          <a:p>
            <a:r>
              <a:rPr lang="en-US" dirty="0">
                <a:ea typeface="ＭＳ Ｐゴシック" charset="0"/>
              </a:rPr>
              <a:t>Names: 60</a:t>
            </a:r>
          </a:p>
          <a:p>
            <a:r>
              <a:rPr lang="en-US" dirty="0">
                <a:ea typeface="ＭＳ Ｐゴシック" charset="0"/>
              </a:rPr>
              <a:t>Section Headings: 54</a:t>
            </a:r>
          </a:p>
          <a:p>
            <a:r>
              <a:rPr lang="en-US" dirty="0">
                <a:ea typeface="ＭＳ Ｐゴシック" charset="0"/>
              </a:rPr>
              <a:t>Body text: 36</a:t>
            </a:r>
          </a:p>
          <a:p>
            <a:r>
              <a:rPr lang="en-US" dirty="0">
                <a:ea typeface="ＭＳ Ｐゴシック" charset="0"/>
              </a:rPr>
              <a:t>Figure Captions: 24</a:t>
            </a:r>
          </a:p>
        </p:txBody>
      </p:sp>
      <p:sp>
        <p:nvSpPr>
          <p:cNvPr id="14339"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11200">
                <a:solidFill>
                  <a:schemeClr val="tx1"/>
                </a:solidFill>
                <a:latin typeface="Arial" charset="0"/>
                <a:ea typeface="ＭＳ Ｐゴシック" charset="0"/>
                <a:cs typeface="ＭＳ Ｐゴシック" charset="0"/>
              </a:defRPr>
            </a:lvl1pPr>
            <a:lvl2pPr marL="3523493" indent="-1355189">
              <a:defRPr sz="11200">
                <a:solidFill>
                  <a:schemeClr val="tx1"/>
                </a:solidFill>
                <a:latin typeface="Arial" charset="0"/>
                <a:ea typeface="ＭＳ Ｐゴシック" charset="0"/>
                <a:cs typeface="ＭＳ Ｐゴシック" charset="0"/>
              </a:defRPr>
            </a:lvl2pPr>
            <a:lvl3pPr marL="5420760" indent="-1084152">
              <a:defRPr sz="11200">
                <a:solidFill>
                  <a:schemeClr val="tx1"/>
                </a:solidFill>
                <a:latin typeface="Arial" charset="0"/>
                <a:ea typeface="ＭＳ Ｐゴシック" charset="0"/>
                <a:cs typeface="ＭＳ Ｐゴシック" charset="0"/>
              </a:defRPr>
            </a:lvl3pPr>
            <a:lvl4pPr marL="7589064" indent="-1084152">
              <a:defRPr sz="11200">
                <a:solidFill>
                  <a:schemeClr val="tx1"/>
                </a:solidFill>
                <a:latin typeface="Arial" charset="0"/>
                <a:ea typeface="ＭＳ Ｐゴシック" charset="0"/>
                <a:cs typeface="ＭＳ Ｐゴシック" charset="0"/>
              </a:defRPr>
            </a:lvl4pPr>
            <a:lvl5pPr marL="9757373" indent="-1084152">
              <a:defRPr sz="11200">
                <a:solidFill>
                  <a:schemeClr val="tx1"/>
                </a:solidFill>
                <a:latin typeface="Arial" charset="0"/>
                <a:ea typeface="ＭＳ Ｐゴシック" charset="0"/>
                <a:cs typeface="ＭＳ Ｐゴシック" charset="0"/>
              </a:defRPr>
            </a:lvl5pPr>
            <a:lvl6pPr marL="11925677" indent="-1084152" eaLnBrk="0" fontAlgn="base" hangingPunct="0">
              <a:spcBef>
                <a:spcPct val="0"/>
              </a:spcBef>
              <a:spcAft>
                <a:spcPct val="0"/>
              </a:spcAft>
              <a:defRPr sz="11200">
                <a:solidFill>
                  <a:schemeClr val="tx1"/>
                </a:solidFill>
                <a:latin typeface="Arial" charset="0"/>
                <a:ea typeface="ＭＳ Ｐゴシック" charset="0"/>
                <a:cs typeface="ＭＳ Ｐゴシック" charset="0"/>
              </a:defRPr>
            </a:lvl6pPr>
            <a:lvl7pPr marL="14093981" indent="-1084152" eaLnBrk="0" fontAlgn="base" hangingPunct="0">
              <a:spcBef>
                <a:spcPct val="0"/>
              </a:spcBef>
              <a:spcAft>
                <a:spcPct val="0"/>
              </a:spcAft>
              <a:defRPr sz="11200">
                <a:solidFill>
                  <a:schemeClr val="tx1"/>
                </a:solidFill>
                <a:latin typeface="Arial" charset="0"/>
                <a:ea typeface="ＭＳ Ｐゴシック" charset="0"/>
                <a:cs typeface="ＭＳ Ｐゴシック" charset="0"/>
              </a:defRPr>
            </a:lvl7pPr>
            <a:lvl8pPr marL="16262285" indent="-1084152" eaLnBrk="0" fontAlgn="base" hangingPunct="0">
              <a:spcBef>
                <a:spcPct val="0"/>
              </a:spcBef>
              <a:spcAft>
                <a:spcPct val="0"/>
              </a:spcAft>
              <a:defRPr sz="11200">
                <a:solidFill>
                  <a:schemeClr val="tx1"/>
                </a:solidFill>
                <a:latin typeface="Arial" charset="0"/>
                <a:ea typeface="ＭＳ Ｐゴシック" charset="0"/>
                <a:cs typeface="ＭＳ Ｐゴシック" charset="0"/>
              </a:defRPr>
            </a:lvl8pPr>
            <a:lvl9pPr marL="18430589" indent="-1084152" eaLnBrk="0" fontAlgn="base" hangingPunct="0">
              <a:spcBef>
                <a:spcPct val="0"/>
              </a:spcBef>
              <a:spcAft>
                <a:spcPct val="0"/>
              </a:spcAft>
              <a:defRPr sz="11200">
                <a:solidFill>
                  <a:schemeClr val="tx1"/>
                </a:solidFill>
                <a:latin typeface="Arial" charset="0"/>
                <a:ea typeface="ＭＳ Ｐゴシック" charset="0"/>
                <a:cs typeface="ＭＳ Ｐゴシック" charset="0"/>
              </a:defRPr>
            </a:lvl9pPr>
          </a:lstStyle>
          <a:p>
            <a:fld id="{1DBCAB6B-A3AE-8443-AED1-0884083409B1}" type="slidenum">
              <a:rPr lang="en-US" sz="5800"/>
              <a:pPr/>
              <a:t>1</a:t>
            </a:fld>
            <a:endParaRPr lang="en-US" sz="58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endParaRPr lang="en-US" dirty="0"/>
          </a:p>
        </p:txBody>
      </p:sp>
    </p:spTree>
    <p:extLst>
      <p:ext uri="{BB962C8B-B14F-4D97-AF65-F5344CB8AC3E}">
        <p14:creationId xmlns:p14="http://schemas.microsoft.com/office/powerpoint/2010/main" val="1003287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061648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2133600"/>
            <a:ext cx="38100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133600"/>
            <a:ext cx="3810000" cy="4343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97046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907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7255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31533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96769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58681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5644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1143000"/>
            <a:ext cx="1943100" cy="5334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1143000"/>
            <a:ext cx="5676900" cy="5334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3171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12" cstate="email">
            <a:extLst>
              <a:ext uri="{28A0092B-C50C-407E-A947-70E740481C1C}">
                <a14:useLocalDpi xmlns:a14="http://schemas.microsoft.com/office/drawing/2010/main" val="0"/>
              </a:ext>
            </a:extLst>
          </a:blip>
          <a:srcRect l="1331" t="86" b="84"/>
          <a:stretch/>
        </p:blipFill>
        <p:spPr>
          <a:xfrm rot="5400000">
            <a:off x="19839840" y="-19839840"/>
            <a:ext cx="4211520" cy="43891200"/>
          </a:xfrm>
          <a:prstGeom prst="rect">
            <a:avLst/>
          </a:prstGeom>
        </p:spPr>
      </p:pic>
      <p:pic>
        <p:nvPicPr>
          <p:cNvPr id="2" name="Picture 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6728400" y="817375"/>
            <a:ext cx="5838264" cy="262753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4806950" rtl="0" eaLnBrk="0" fontAlgn="base" hangingPunct="0">
        <a:spcBef>
          <a:spcPct val="0"/>
        </a:spcBef>
        <a:spcAft>
          <a:spcPct val="0"/>
        </a:spcAft>
        <a:defRPr sz="3600" b="1">
          <a:solidFill>
            <a:schemeClr val="tx1"/>
          </a:solidFill>
          <a:latin typeface="+mj-lt"/>
          <a:ea typeface="+mj-ea"/>
          <a:cs typeface="ＭＳ Ｐゴシック" charset="0"/>
        </a:defRPr>
      </a:lvl1pPr>
      <a:lvl2pPr algn="l" defTabSz="4806950" rtl="0" eaLnBrk="0" fontAlgn="base" hangingPunct="0">
        <a:spcBef>
          <a:spcPct val="0"/>
        </a:spcBef>
        <a:spcAft>
          <a:spcPct val="0"/>
        </a:spcAft>
        <a:defRPr sz="3600" b="1">
          <a:solidFill>
            <a:schemeClr val="tx1"/>
          </a:solidFill>
          <a:latin typeface="Arial" charset="0"/>
          <a:ea typeface="ＭＳ Ｐゴシック" pitchFamily="-109" charset="-128"/>
          <a:cs typeface="ＭＳ Ｐゴシック" charset="0"/>
        </a:defRPr>
      </a:lvl2pPr>
      <a:lvl3pPr algn="l" defTabSz="4806950" rtl="0" eaLnBrk="0" fontAlgn="base" hangingPunct="0">
        <a:spcBef>
          <a:spcPct val="0"/>
        </a:spcBef>
        <a:spcAft>
          <a:spcPct val="0"/>
        </a:spcAft>
        <a:defRPr sz="3600" b="1">
          <a:solidFill>
            <a:schemeClr val="tx1"/>
          </a:solidFill>
          <a:latin typeface="Arial" charset="0"/>
          <a:ea typeface="ＭＳ Ｐゴシック" pitchFamily="-109" charset="-128"/>
          <a:cs typeface="ＭＳ Ｐゴシック" charset="0"/>
        </a:defRPr>
      </a:lvl3pPr>
      <a:lvl4pPr algn="l" defTabSz="4806950" rtl="0" eaLnBrk="0" fontAlgn="base" hangingPunct="0">
        <a:spcBef>
          <a:spcPct val="0"/>
        </a:spcBef>
        <a:spcAft>
          <a:spcPct val="0"/>
        </a:spcAft>
        <a:defRPr sz="3600" b="1">
          <a:solidFill>
            <a:schemeClr val="tx1"/>
          </a:solidFill>
          <a:latin typeface="Arial" charset="0"/>
          <a:ea typeface="ＭＳ Ｐゴシック" pitchFamily="-109" charset="-128"/>
          <a:cs typeface="ＭＳ Ｐゴシック" charset="0"/>
        </a:defRPr>
      </a:lvl4pPr>
      <a:lvl5pPr algn="l" defTabSz="4806950" rtl="0" eaLnBrk="0" fontAlgn="base" hangingPunct="0">
        <a:spcBef>
          <a:spcPct val="0"/>
        </a:spcBef>
        <a:spcAft>
          <a:spcPct val="0"/>
        </a:spcAft>
        <a:defRPr sz="3600" b="1">
          <a:solidFill>
            <a:schemeClr val="tx1"/>
          </a:solidFill>
          <a:latin typeface="Arial" charset="0"/>
          <a:ea typeface="ＭＳ Ｐゴシック" pitchFamily="-109" charset="-128"/>
          <a:cs typeface="ＭＳ Ｐゴシック" charset="0"/>
        </a:defRPr>
      </a:lvl5pPr>
      <a:lvl6pPr marL="457200" algn="l" rtl="0" fontAlgn="base">
        <a:spcBef>
          <a:spcPct val="0"/>
        </a:spcBef>
        <a:spcAft>
          <a:spcPct val="0"/>
        </a:spcAft>
        <a:defRPr sz="3200" b="1">
          <a:solidFill>
            <a:schemeClr val="tx2"/>
          </a:solidFill>
          <a:latin typeface="Arial" charset="0"/>
          <a:ea typeface="ＭＳ Ｐゴシック" pitchFamily="-109" charset="-128"/>
        </a:defRPr>
      </a:lvl6pPr>
      <a:lvl7pPr marL="914400" algn="l" rtl="0" fontAlgn="base">
        <a:spcBef>
          <a:spcPct val="0"/>
        </a:spcBef>
        <a:spcAft>
          <a:spcPct val="0"/>
        </a:spcAft>
        <a:defRPr sz="3200" b="1">
          <a:solidFill>
            <a:schemeClr val="tx2"/>
          </a:solidFill>
          <a:latin typeface="Arial" charset="0"/>
          <a:ea typeface="ＭＳ Ｐゴシック" pitchFamily="-109" charset="-128"/>
        </a:defRPr>
      </a:lvl7pPr>
      <a:lvl8pPr marL="1371600" algn="l" rtl="0" fontAlgn="base">
        <a:spcBef>
          <a:spcPct val="0"/>
        </a:spcBef>
        <a:spcAft>
          <a:spcPct val="0"/>
        </a:spcAft>
        <a:defRPr sz="3200" b="1">
          <a:solidFill>
            <a:schemeClr val="tx2"/>
          </a:solidFill>
          <a:latin typeface="Arial" charset="0"/>
          <a:ea typeface="ＭＳ Ｐゴシック" pitchFamily="-109" charset="-128"/>
        </a:defRPr>
      </a:lvl8pPr>
      <a:lvl9pPr marL="1828800" algn="l" rtl="0" fontAlgn="base">
        <a:spcBef>
          <a:spcPct val="0"/>
        </a:spcBef>
        <a:spcAft>
          <a:spcPct val="0"/>
        </a:spcAft>
        <a:defRPr sz="3200" b="1">
          <a:solidFill>
            <a:schemeClr val="tx2"/>
          </a:solidFill>
          <a:latin typeface="Arial" charset="0"/>
          <a:ea typeface="ＭＳ Ｐゴシック" pitchFamily="-109" charset="-128"/>
        </a:defRPr>
      </a:lvl9pPr>
    </p:titleStyle>
    <p:bodyStyle>
      <a:lvl1pPr marL="342900" indent="-342900" algn="l" defTabSz="4806950" rtl="0" eaLnBrk="0" fontAlgn="base" hangingPunct="0">
        <a:spcBef>
          <a:spcPct val="20000"/>
        </a:spcBef>
        <a:spcAft>
          <a:spcPct val="0"/>
        </a:spcAft>
        <a:defRPr sz="2400">
          <a:solidFill>
            <a:schemeClr val="tx1"/>
          </a:solidFill>
          <a:latin typeface="+mn-lt"/>
          <a:ea typeface="+mn-ea"/>
          <a:cs typeface="ＭＳ Ｐゴシック" charset="0"/>
        </a:defRPr>
      </a:lvl1pPr>
      <a:lvl2pPr marL="3905250" indent="-1501775" algn="l" defTabSz="4806950" rtl="0" eaLnBrk="0" fontAlgn="base" hangingPunct="0">
        <a:spcBef>
          <a:spcPct val="20000"/>
        </a:spcBef>
        <a:spcAft>
          <a:spcPct val="0"/>
        </a:spcAft>
        <a:defRPr sz="2400">
          <a:solidFill>
            <a:schemeClr val="tx1"/>
          </a:solidFill>
          <a:latin typeface="+mn-lt"/>
          <a:ea typeface="+mn-ea"/>
          <a:cs typeface="ＭＳ Ｐゴシック" charset="0"/>
        </a:defRPr>
      </a:lvl2pPr>
      <a:lvl3pPr marL="6008688" indent="-1201738" algn="l" defTabSz="4806950" rtl="0" eaLnBrk="0" fontAlgn="base" hangingPunct="0">
        <a:spcBef>
          <a:spcPct val="20000"/>
        </a:spcBef>
        <a:spcAft>
          <a:spcPct val="0"/>
        </a:spcAft>
        <a:defRPr sz="2400">
          <a:solidFill>
            <a:schemeClr val="tx1"/>
          </a:solidFill>
          <a:latin typeface="+mn-lt"/>
          <a:ea typeface="+mn-ea"/>
          <a:cs typeface="ＭＳ Ｐゴシック" charset="0"/>
        </a:defRPr>
      </a:lvl3pPr>
      <a:lvl4pPr marL="8412163" indent="-1201738" algn="l" defTabSz="4806950" rtl="0" eaLnBrk="0" fontAlgn="base" hangingPunct="0">
        <a:spcBef>
          <a:spcPct val="20000"/>
        </a:spcBef>
        <a:spcAft>
          <a:spcPct val="0"/>
        </a:spcAft>
        <a:defRPr sz="2400">
          <a:solidFill>
            <a:schemeClr val="tx1"/>
          </a:solidFill>
          <a:latin typeface="+mn-lt"/>
          <a:ea typeface="+mn-ea"/>
          <a:cs typeface="ＭＳ Ｐゴシック" charset="0"/>
        </a:defRPr>
      </a:lvl4pPr>
      <a:lvl5pPr marL="10815638" indent="-1201738" algn="l" defTabSz="4806950" rtl="0" eaLnBrk="0" fontAlgn="base" hangingPunct="0">
        <a:spcBef>
          <a:spcPct val="20000"/>
        </a:spcBef>
        <a:spcAft>
          <a:spcPct val="0"/>
        </a:spcAft>
        <a:defRPr sz="2400">
          <a:solidFill>
            <a:schemeClr val="tx1"/>
          </a:solidFill>
          <a:latin typeface="+mn-lt"/>
          <a:ea typeface="+mn-ea"/>
          <a:cs typeface="ＭＳ Ｐゴシック" charset="0"/>
        </a:defRPr>
      </a:lvl5pPr>
      <a:lvl6pPr marL="2514600" indent="-228600" algn="l" rtl="0" fontAlgn="base">
        <a:spcBef>
          <a:spcPct val="20000"/>
        </a:spcBef>
        <a:spcAft>
          <a:spcPct val="0"/>
        </a:spcAft>
        <a:defRPr sz="2000">
          <a:solidFill>
            <a:schemeClr val="tx1"/>
          </a:solidFill>
          <a:latin typeface="+mn-lt"/>
          <a:ea typeface="+mn-ea"/>
        </a:defRPr>
      </a:lvl6pPr>
      <a:lvl7pPr marL="2971800" indent="-228600" algn="l" rtl="0" fontAlgn="base">
        <a:spcBef>
          <a:spcPct val="20000"/>
        </a:spcBef>
        <a:spcAft>
          <a:spcPct val="0"/>
        </a:spcAft>
        <a:defRPr sz="2000">
          <a:solidFill>
            <a:schemeClr val="tx1"/>
          </a:solidFill>
          <a:latin typeface="+mn-lt"/>
          <a:ea typeface="+mn-ea"/>
        </a:defRPr>
      </a:lvl7pPr>
      <a:lvl8pPr marL="3429000" indent="-228600" algn="l" rtl="0" fontAlgn="base">
        <a:spcBef>
          <a:spcPct val="20000"/>
        </a:spcBef>
        <a:spcAft>
          <a:spcPct val="0"/>
        </a:spcAft>
        <a:defRPr sz="2000">
          <a:solidFill>
            <a:schemeClr val="tx1"/>
          </a:solidFill>
          <a:latin typeface="+mn-lt"/>
          <a:ea typeface="+mn-ea"/>
        </a:defRPr>
      </a:lvl8pPr>
      <a:lvl9pPr marL="3886200" indent="-228600" algn="l" rtl="0" fontAlgn="base">
        <a:spcBef>
          <a:spcPct val="20000"/>
        </a:spcBef>
        <a:spcAft>
          <a:spcPct val="0"/>
        </a:spcAft>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74" name="Picture 2073">
            <a:extLst>
              <a:ext uri="{FF2B5EF4-FFF2-40B4-BE49-F238E27FC236}">
                <a16:creationId xmlns:a16="http://schemas.microsoft.com/office/drawing/2014/main" id="{2FABE848-7330-B6FD-598A-398A000289FF}"/>
              </a:ext>
            </a:extLst>
          </p:cNvPr>
          <p:cNvPicPr>
            <a:picLocks noChangeAspect="1"/>
          </p:cNvPicPr>
          <p:nvPr/>
        </p:nvPicPr>
        <p:blipFill>
          <a:blip r:embed="rId3"/>
          <a:stretch>
            <a:fillRect/>
          </a:stretch>
        </p:blipFill>
        <p:spPr>
          <a:xfrm>
            <a:off x="13180777" y="6277908"/>
            <a:ext cx="16435913" cy="3402056"/>
          </a:xfrm>
          <a:prstGeom prst="rect">
            <a:avLst/>
          </a:prstGeom>
        </p:spPr>
      </p:pic>
      <p:sp>
        <p:nvSpPr>
          <p:cNvPr id="2" name="TextBox 1">
            <a:extLst>
              <a:ext uri="{FF2B5EF4-FFF2-40B4-BE49-F238E27FC236}">
                <a16:creationId xmlns:a16="http://schemas.microsoft.com/office/drawing/2014/main" id="{A084D03C-9F90-920D-0716-4DDED67622CF}"/>
              </a:ext>
            </a:extLst>
          </p:cNvPr>
          <p:cNvSpPr txBox="1"/>
          <p:nvPr/>
        </p:nvSpPr>
        <p:spPr>
          <a:xfrm>
            <a:off x="0" y="0"/>
            <a:ext cx="43891200" cy="3970318"/>
          </a:xfrm>
          <a:prstGeom prst="rect">
            <a:avLst/>
          </a:prstGeom>
          <a:noFill/>
        </p:spPr>
        <p:txBody>
          <a:bodyPr wrap="square" rtlCol="0">
            <a:spAutoFit/>
          </a:bodyPr>
          <a:lstStyle/>
          <a:p>
            <a:pPr algn="ctr"/>
            <a:r>
              <a:rPr lang="en-US" sz="9600" b="1" dirty="0">
                <a:solidFill>
                  <a:schemeClr val="bg1"/>
                </a:solidFill>
              </a:rPr>
              <a:t>PickyRTL: A Static Analysis Tool for Detecting </a:t>
            </a:r>
          </a:p>
          <a:p>
            <a:pPr algn="ctr"/>
            <a:r>
              <a:rPr lang="en-US" sz="9600" b="1" dirty="0">
                <a:solidFill>
                  <a:schemeClr val="bg1"/>
                </a:solidFill>
              </a:rPr>
              <a:t>Hardware CWEs at Register-Transfer Level</a:t>
            </a:r>
          </a:p>
          <a:p>
            <a:pPr algn="ctr"/>
            <a:r>
              <a:rPr lang="en-US" sz="6000" dirty="0">
                <a:solidFill>
                  <a:schemeClr val="bg1"/>
                </a:solidFill>
              </a:rPr>
              <a:t>John Parks</a:t>
            </a:r>
          </a:p>
        </p:txBody>
      </p:sp>
      <p:sp>
        <p:nvSpPr>
          <p:cNvPr id="4" name="TextBox 3">
            <a:extLst>
              <a:ext uri="{FF2B5EF4-FFF2-40B4-BE49-F238E27FC236}">
                <a16:creationId xmlns:a16="http://schemas.microsoft.com/office/drawing/2014/main" id="{5A0547CC-6F8D-B446-B78C-BF58FBB9ED03}"/>
              </a:ext>
            </a:extLst>
          </p:cNvPr>
          <p:cNvSpPr txBox="1"/>
          <p:nvPr/>
        </p:nvSpPr>
        <p:spPr>
          <a:xfrm>
            <a:off x="0" y="2954655"/>
            <a:ext cx="9677400" cy="1015663"/>
          </a:xfrm>
          <a:prstGeom prst="rect">
            <a:avLst/>
          </a:prstGeom>
          <a:noFill/>
        </p:spPr>
        <p:txBody>
          <a:bodyPr wrap="square" rtlCol="0">
            <a:spAutoFit/>
          </a:bodyPr>
          <a:lstStyle/>
          <a:p>
            <a:r>
              <a:rPr lang="en-US" sz="6000" dirty="0">
                <a:solidFill>
                  <a:schemeClr val="bg1"/>
                </a:solidFill>
              </a:rPr>
              <a:t>Advisor: Dr. Boyang Wang</a:t>
            </a:r>
          </a:p>
        </p:txBody>
      </p:sp>
      <p:sp>
        <p:nvSpPr>
          <p:cNvPr id="5" name="Rectangle: Rounded Corners 4">
            <a:extLst>
              <a:ext uri="{FF2B5EF4-FFF2-40B4-BE49-F238E27FC236}">
                <a16:creationId xmlns:a16="http://schemas.microsoft.com/office/drawing/2014/main" id="{37D2C260-E7BF-5C1E-0FBD-5CF25CF32609}"/>
              </a:ext>
            </a:extLst>
          </p:cNvPr>
          <p:cNvSpPr>
            <a:spLocks noGrp="1" noRot="1" noMove="1" noResize="1" noEditPoints="1" noAdjustHandles="1" noChangeArrowheads="1" noChangeShapeType="1"/>
          </p:cNvSpPr>
          <p:nvPr/>
        </p:nvSpPr>
        <p:spPr bwMode="auto">
          <a:xfrm>
            <a:off x="481773" y="4698809"/>
            <a:ext cx="11821228" cy="1531918"/>
          </a:xfrm>
          <a:prstGeom prst="roundRect">
            <a:avLst/>
          </a:prstGeom>
          <a:solidFill>
            <a:srgbClr val="D2203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5400" b="1" i="0" u="none" strike="noStrike" cap="none" normalizeH="0" baseline="0" dirty="0">
                <a:ln>
                  <a:noFill/>
                </a:ln>
                <a:solidFill>
                  <a:schemeClr val="bg1"/>
                </a:solidFill>
                <a:effectLst/>
                <a:latin typeface="Arial" charset="0"/>
                <a:ea typeface="ＭＳ Ｐゴシック" pitchFamily="-109" charset="-128"/>
              </a:rPr>
              <a:t>Background</a:t>
            </a:r>
          </a:p>
        </p:txBody>
      </p:sp>
      <p:sp>
        <p:nvSpPr>
          <p:cNvPr id="6" name="Rectangle: Rounded Corners 5">
            <a:extLst>
              <a:ext uri="{FF2B5EF4-FFF2-40B4-BE49-F238E27FC236}">
                <a16:creationId xmlns:a16="http://schemas.microsoft.com/office/drawing/2014/main" id="{20D77473-4555-3DCD-FCC3-E83355617158}"/>
              </a:ext>
            </a:extLst>
          </p:cNvPr>
          <p:cNvSpPr>
            <a:spLocks noGrp="1" noRot="1" noMove="1" noResize="1" noEditPoints="1" noAdjustHandles="1" noChangeArrowheads="1" noChangeShapeType="1"/>
          </p:cNvSpPr>
          <p:nvPr/>
        </p:nvSpPr>
        <p:spPr bwMode="auto">
          <a:xfrm>
            <a:off x="30411070" y="4665471"/>
            <a:ext cx="13065546" cy="1565256"/>
          </a:xfrm>
          <a:prstGeom prst="roundRect">
            <a:avLst/>
          </a:prstGeom>
          <a:solidFill>
            <a:srgbClr val="D2203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5400" b="1" i="0" u="none" strike="noStrike" cap="none" normalizeH="0" baseline="0" dirty="0">
                <a:ln>
                  <a:noFill/>
                </a:ln>
                <a:solidFill>
                  <a:schemeClr val="bg1"/>
                </a:solidFill>
                <a:effectLst/>
                <a:latin typeface="Arial" charset="0"/>
                <a:ea typeface="ＭＳ Ｐゴシック" pitchFamily="-109" charset="-128"/>
              </a:rPr>
              <a:t>Results</a:t>
            </a:r>
          </a:p>
        </p:txBody>
      </p:sp>
      <p:sp>
        <p:nvSpPr>
          <p:cNvPr id="7" name="Rectangle: Rounded Corners 6">
            <a:extLst>
              <a:ext uri="{FF2B5EF4-FFF2-40B4-BE49-F238E27FC236}">
                <a16:creationId xmlns:a16="http://schemas.microsoft.com/office/drawing/2014/main" id="{14722FD8-6C2F-3698-A2B9-7DB1D075C8B3}"/>
              </a:ext>
            </a:extLst>
          </p:cNvPr>
          <p:cNvSpPr/>
          <p:nvPr/>
        </p:nvSpPr>
        <p:spPr bwMode="auto">
          <a:xfrm>
            <a:off x="481779" y="22836742"/>
            <a:ext cx="11786413" cy="1531918"/>
          </a:xfrm>
          <a:prstGeom prst="roundRect">
            <a:avLst/>
          </a:prstGeom>
          <a:solidFill>
            <a:srgbClr val="D2203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5400" b="1" i="0" u="none" strike="noStrike" cap="none" normalizeH="0" baseline="0" dirty="0">
                <a:ln>
                  <a:noFill/>
                </a:ln>
                <a:solidFill>
                  <a:schemeClr val="bg1"/>
                </a:solidFill>
                <a:effectLst/>
                <a:latin typeface="Arial" charset="0"/>
                <a:ea typeface="ＭＳ Ｐゴシック" pitchFamily="-109" charset="-128"/>
              </a:rPr>
              <a:t>What is CWE?</a:t>
            </a:r>
          </a:p>
        </p:txBody>
      </p:sp>
      <p:sp>
        <p:nvSpPr>
          <p:cNvPr id="8" name="Rectangle: Rounded Corners 7">
            <a:extLst>
              <a:ext uri="{FF2B5EF4-FFF2-40B4-BE49-F238E27FC236}">
                <a16:creationId xmlns:a16="http://schemas.microsoft.com/office/drawing/2014/main" id="{CBE6E9D2-C11A-B0BF-4BD7-F2AE195A5998}"/>
              </a:ext>
            </a:extLst>
          </p:cNvPr>
          <p:cNvSpPr/>
          <p:nvPr/>
        </p:nvSpPr>
        <p:spPr bwMode="auto">
          <a:xfrm>
            <a:off x="30411070" y="28434156"/>
            <a:ext cx="12898245" cy="1531918"/>
          </a:xfrm>
          <a:prstGeom prst="roundRect">
            <a:avLst/>
          </a:prstGeom>
          <a:solidFill>
            <a:srgbClr val="D2203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5400" b="1" i="0" u="none" strike="noStrike" cap="none" normalizeH="0" baseline="0" dirty="0">
                <a:ln>
                  <a:noFill/>
                </a:ln>
                <a:solidFill>
                  <a:schemeClr val="bg1"/>
                </a:solidFill>
                <a:effectLst/>
                <a:latin typeface="Arial" charset="0"/>
                <a:ea typeface="ＭＳ Ｐゴシック" pitchFamily="-109" charset="-128"/>
              </a:rPr>
              <a:t>Future Work</a:t>
            </a:r>
          </a:p>
        </p:txBody>
      </p:sp>
      <p:sp>
        <p:nvSpPr>
          <p:cNvPr id="10" name="Rectangle: Rounded Corners 9">
            <a:extLst>
              <a:ext uri="{FF2B5EF4-FFF2-40B4-BE49-F238E27FC236}">
                <a16:creationId xmlns:a16="http://schemas.microsoft.com/office/drawing/2014/main" id="{83BB551F-D98D-E81D-595D-F2A260371673}"/>
              </a:ext>
            </a:extLst>
          </p:cNvPr>
          <p:cNvSpPr>
            <a:spLocks noGrp="1" noRot="1" noMove="1" noResize="1" noEditPoints="1" noAdjustHandles="1" noChangeArrowheads="1" noChangeShapeType="1"/>
          </p:cNvSpPr>
          <p:nvPr/>
        </p:nvSpPr>
        <p:spPr bwMode="auto">
          <a:xfrm>
            <a:off x="12912609" y="4675795"/>
            <a:ext cx="16881592" cy="1554932"/>
          </a:xfrm>
          <a:prstGeom prst="roundRect">
            <a:avLst/>
          </a:prstGeom>
          <a:solidFill>
            <a:srgbClr val="D2203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5400" b="1" dirty="0">
                <a:solidFill>
                  <a:schemeClr val="bg1"/>
                </a:solidFill>
                <a:ea typeface="ＭＳ Ｐゴシック" pitchFamily="-109" charset="-128"/>
              </a:rPr>
              <a:t>Detection Algorithms</a:t>
            </a:r>
            <a:endParaRPr kumimoji="0" lang="en-US" sz="5400" b="1" i="0" u="none" strike="noStrike" cap="none" normalizeH="0" baseline="0" dirty="0">
              <a:ln>
                <a:noFill/>
              </a:ln>
              <a:solidFill>
                <a:schemeClr val="bg1"/>
              </a:solidFill>
              <a:effectLst/>
              <a:latin typeface="Arial" charset="0"/>
              <a:ea typeface="ＭＳ Ｐゴシック" pitchFamily="-109" charset="-128"/>
            </a:endParaRPr>
          </a:p>
        </p:txBody>
      </p:sp>
      <p:graphicFrame>
        <p:nvGraphicFramePr>
          <p:cNvPr id="11" name="Table 10">
            <a:extLst>
              <a:ext uri="{FF2B5EF4-FFF2-40B4-BE49-F238E27FC236}">
                <a16:creationId xmlns:a16="http://schemas.microsoft.com/office/drawing/2014/main" id="{3C651C39-0BDE-A1BA-0C45-7B2F6B81E26A}"/>
              </a:ext>
            </a:extLst>
          </p:cNvPr>
          <p:cNvGraphicFramePr>
            <a:graphicFrameLocks noGrp="1"/>
          </p:cNvGraphicFramePr>
          <p:nvPr>
            <p:extLst>
              <p:ext uri="{D42A27DB-BD31-4B8C-83A1-F6EECF244321}">
                <p14:modId xmlns:p14="http://schemas.microsoft.com/office/powerpoint/2010/main" val="1038008813"/>
              </p:ext>
            </p:extLst>
          </p:nvPr>
        </p:nvGraphicFramePr>
        <p:xfrm>
          <a:off x="30511173" y="7266723"/>
          <a:ext cx="12964056" cy="7132320"/>
        </p:xfrm>
        <a:graphic>
          <a:graphicData uri="http://schemas.openxmlformats.org/drawingml/2006/table">
            <a:tbl>
              <a:tblPr firstRow="1" lastRow="1" bandRow="1">
                <a:tableStyleId>{073A0DAA-6AF3-43AB-8588-CEC1D06C72B9}</a:tableStyleId>
              </a:tblPr>
              <a:tblGrid>
                <a:gridCol w="2483427">
                  <a:extLst>
                    <a:ext uri="{9D8B030D-6E8A-4147-A177-3AD203B41FA5}">
                      <a16:colId xmlns:a16="http://schemas.microsoft.com/office/drawing/2014/main" val="2974163999"/>
                    </a:ext>
                  </a:extLst>
                </a:gridCol>
                <a:gridCol w="3211065">
                  <a:extLst>
                    <a:ext uri="{9D8B030D-6E8A-4147-A177-3AD203B41FA5}">
                      <a16:colId xmlns:a16="http://schemas.microsoft.com/office/drawing/2014/main" val="840063012"/>
                    </a:ext>
                  </a:extLst>
                </a:gridCol>
                <a:gridCol w="987045">
                  <a:extLst>
                    <a:ext uri="{9D8B030D-6E8A-4147-A177-3AD203B41FA5}">
                      <a16:colId xmlns:a16="http://schemas.microsoft.com/office/drawing/2014/main" val="10633957"/>
                    </a:ext>
                  </a:extLst>
                </a:gridCol>
                <a:gridCol w="987045">
                  <a:extLst>
                    <a:ext uri="{9D8B030D-6E8A-4147-A177-3AD203B41FA5}">
                      <a16:colId xmlns:a16="http://schemas.microsoft.com/office/drawing/2014/main" val="760898032"/>
                    </a:ext>
                  </a:extLst>
                </a:gridCol>
                <a:gridCol w="987045">
                  <a:extLst>
                    <a:ext uri="{9D8B030D-6E8A-4147-A177-3AD203B41FA5}">
                      <a16:colId xmlns:a16="http://schemas.microsoft.com/office/drawing/2014/main" val="3952299289"/>
                    </a:ext>
                  </a:extLst>
                </a:gridCol>
                <a:gridCol w="2362200">
                  <a:extLst>
                    <a:ext uri="{9D8B030D-6E8A-4147-A177-3AD203B41FA5}">
                      <a16:colId xmlns:a16="http://schemas.microsoft.com/office/drawing/2014/main" val="3830395196"/>
                    </a:ext>
                  </a:extLst>
                </a:gridCol>
                <a:gridCol w="1946229">
                  <a:extLst>
                    <a:ext uri="{9D8B030D-6E8A-4147-A177-3AD203B41FA5}">
                      <a16:colId xmlns:a16="http://schemas.microsoft.com/office/drawing/2014/main" val="823407109"/>
                    </a:ext>
                  </a:extLst>
                </a:gridCol>
              </a:tblGrid>
              <a:tr h="1188720">
                <a:tc>
                  <a:txBody>
                    <a:bodyPr/>
                    <a:lstStyle/>
                    <a:p>
                      <a:pPr algn="ctr"/>
                      <a:r>
                        <a:rPr lang="en-US" sz="3600" dirty="0"/>
                        <a:t>CWE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600" dirty="0"/>
                        <a:t># Vulnerable Components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600" dirty="0"/>
                        <a:t>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600" dirty="0"/>
                        <a:t>FP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600" dirty="0"/>
                        <a:t>FN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600" dirty="0"/>
                        <a:t>Precision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600" dirty="0"/>
                        <a:t>Recall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425810"/>
                  </a:ext>
                </a:extLst>
              </a:tr>
              <a:tr h="1188720">
                <a:tc>
                  <a:txBody>
                    <a:bodyPr/>
                    <a:lstStyle/>
                    <a:p>
                      <a:pPr algn="ctr"/>
                      <a:r>
                        <a:rPr lang="en-US" sz="3600" dirty="0"/>
                        <a:t>CWE-1245</a:t>
                      </a:r>
                    </a:p>
                  </a:txBody>
                  <a:tcPr anchor="ctr">
                    <a:lnT w="12700" cap="flat" cmpd="sng" algn="ctr">
                      <a:solidFill>
                        <a:schemeClr val="tx1"/>
                      </a:solidFill>
                      <a:prstDash val="solid"/>
                      <a:round/>
                      <a:headEnd type="none" w="med" len="med"/>
                      <a:tailEnd type="none" w="med" len="med"/>
                    </a:lnT>
                  </a:tcPr>
                </a:tc>
                <a:tc>
                  <a:txBody>
                    <a:bodyPr/>
                    <a:lstStyle/>
                    <a:p>
                      <a:pPr algn="ctr"/>
                      <a:r>
                        <a:rPr lang="en-US" sz="3600" dirty="0"/>
                        <a:t>9</a:t>
                      </a:r>
                    </a:p>
                  </a:txBody>
                  <a:tcPr anchor="ctr">
                    <a:lnT w="12700" cap="flat" cmpd="sng" algn="ctr">
                      <a:solidFill>
                        <a:schemeClr val="tx1"/>
                      </a:solidFill>
                      <a:prstDash val="solid"/>
                      <a:round/>
                      <a:headEnd type="none" w="med" len="med"/>
                      <a:tailEnd type="none" w="med" len="med"/>
                    </a:lnT>
                  </a:tcPr>
                </a:tc>
                <a:tc>
                  <a:txBody>
                    <a:bodyPr/>
                    <a:lstStyle/>
                    <a:p>
                      <a:pPr algn="ctr"/>
                      <a:r>
                        <a:rPr lang="en-US" sz="3600" dirty="0"/>
                        <a:t>9</a:t>
                      </a:r>
                    </a:p>
                  </a:txBody>
                  <a:tcPr anchor="ctr">
                    <a:lnT w="12700" cap="flat" cmpd="sng" algn="ctr">
                      <a:solidFill>
                        <a:schemeClr val="tx1"/>
                      </a:solidFill>
                      <a:prstDash val="solid"/>
                      <a:round/>
                      <a:headEnd type="none" w="med" len="med"/>
                      <a:tailEnd type="none" w="med" len="med"/>
                    </a:lnT>
                  </a:tcPr>
                </a:tc>
                <a:tc>
                  <a:txBody>
                    <a:bodyPr/>
                    <a:lstStyle/>
                    <a:p>
                      <a:pPr algn="ctr"/>
                      <a:r>
                        <a:rPr lang="en-US" sz="3600" dirty="0"/>
                        <a:t>0</a:t>
                      </a:r>
                    </a:p>
                  </a:txBody>
                  <a:tcPr anchor="ctr">
                    <a:lnT w="12700" cap="flat" cmpd="sng" algn="ctr">
                      <a:solidFill>
                        <a:schemeClr val="tx1"/>
                      </a:solidFill>
                      <a:prstDash val="solid"/>
                      <a:round/>
                      <a:headEnd type="none" w="med" len="med"/>
                      <a:tailEnd type="none" w="med" len="med"/>
                    </a:lnT>
                  </a:tcPr>
                </a:tc>
                <a:tc>
                  <a:txBody>
                    <a:bodyPr/>
                    <a:lstStyle/>
                    <a:p>
                      <a:pPr algn="ctr"/>
                      <a:r>
                        <a:rPr lang="en-US" sz="3600" dirty="0"/>
                        <a:t>0</a:t>
                      </a:r>
                    </a:p>
                  </a:txBody>
                  <a:tcPr anchor="ctr">
                    <a:lnT w="12700" cap="flat" cmpd="sng" algn="ctr">
                      <a:solidFill>
                        <a:schemeClr val="tx1"/>
                      </a:solidFill>
                      <a:prstDash val="solid"/>
                      <a:round/>
                      <a:headEnd type="none" w="med" len="med"/>
                      <a:tailEnd type="none" w="med" len="med"/>
                    </a:lnT>
                  </a:tcPr>
                </a:tc>
                <a:tc>
                  <a:txBody>
                    <a:bodyPr/>
                    <a:lstStyle/>
                    <a:p>
                      <a:pPr algn="ctr"/>
                      <a:r>
                        <a:rPr lang="en-US" sz="3600" dirty="0"/>
                        <a:t>100.0%</a:t>
                      </a:r>
                    </a:p>
                  </a:txBody>
                  <a:tcPr anchor="ctr">
                    <a:lnT w="12700" cap="flat" cmpd="sng" algn="ctr">
                      <a:solidFill>
                        <a:schemeClr val="tx1"/>
                      </a:solidFill>
                      <a:prstDash val="solid"/>
                      <a:round/>
                      <a:headEnd type="none" w="med" len="med"/>
                      <a:tailEnd type="none" w="med" len="med"/>
                    </a:lnT>
                  </a:tcPr>
                </a:tc>
                <a:tc>
                  <a:txBody>
                    <a:bodyPr/>
                    <a:lstStyle/>
                    <a:p>
                      <a:pPr algn="ctr"/>
                      <a:r>
                        <a:rPr lang="en-US" sz="3600" dirty="0"/>
                        <a:t>100.0%</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05365043"/>
                  </a:ext>
                </a:extLst>
              </a:tr>
              <a:tr h="1188720">
                <a:tc>
                  <a:txBody>
                    <a:bodyPr/>
                    <a:lstStyle/>
                    <a:p>
                      <a:pPr algn="ctr"/>
                      <a:r>
                        <a:rPr lang="en-US" sz="3600" dirty="0"/>
                        <a:t>CWE-1233</a:t>
                      </a:r>
                    </a:p>
                  </a:txBody>
                  <a:tcPr anchor="ctr"/>
                </a:tc>
                <a:tc>
                  <a:txBody>
                    <a:bodyPr/>
                    <a:lstStyle/>
                    <a:p>
                      <a:pPr algn="ctr"/>
                      <a:r>
                        <a:rPr lang="en-US" sz="3600" dirty="0"/>
                        <a:t>30</a:t>
                      </a:r>
                    </a:p>
                  </a:txBody>
                  <a:tcPr anchor="ctr"/>
                </a:tc>
                <a:tc>
                  <a:txBody>
                    <a:bodyPr/>
                    <a:lstStyle/>
                    <a:p>
                      <a:pPr algn="ctr"/>
                      <a:r>
                        <a:rPr lang="en-US" sz="3600" dirty="0"/>
                        <a:t>10</a:t>
                      </a:r>
                    </a:p>
                  </a:txBody>
                  <a:tcPr anchor="ctr"/>
                </a:tc>
                <a:tc>
                  <a:txBody>
                    <a:bodyPr/>
                    <a:lstStyle/>
                    <a:p>
                      <a:pPr algn="ctr"/>
                      <a:r>
                        <a:rPr lang="en-US" sz="3600" dirty="0"/>
                        <a:t>9</a:t>
                      </a:r>
                    </a:p>
                  </a:txBody>
                  <a:tcPr anchor="ctr"/>
                </a:tc>
                <a:tc>
                  <a:txBody>
                    <a:bodyPr/>
                    <a:lstStyle/>
                    <a:p>
                      <a:pPr algn="ctr"/>
                      <a:r>
                        <a:rPr lang="en-US" sz="3600" dirty="0"/>
                        <a:t>11</a:t>
                      </a:r>
                    </a:p>
                  </a:txBody>
                  <a:tcPr anchor="ctr"/>
                </a:tc>
                <a:tc>
                  <a:txBody>
                    <a:bodyPr/>
                    <a:lstStyle/>
                    <a:p>
                      <a:pPr algn="ctr"/>
                      <a:r>
                        <a:rPr lang="en-US" sz="3600" dirty="0"/>
                        <a:t>67.9%</a:t>
                      </a:r>
                    </a:p>
                  </a:txBody>
                  <a:tcPr anchor="ctr"/>
                </a:tc>
                <a:tc>
                  <a:txBody>
                    <a:bodyPr/>
                    <a:lstStyle/>
                    <a:p>
                      <a:pPr algn="ctr"/>
                      <a:r>
                        <a:rPr lang="en-US" sz="3600" dirty="0"/>
                        <a:t>63.3%</a:t>
                      </a:r>
                    </a:p>
                  </a:txBody>
                  <a:tcPr anchor="ctr"/>
                </a:tc>
                <a:extLst>
                  <a:ext uri="{0D108BD9-81ED-4DB2-BD59-A6C34878D82A}">
                    <a16:rowId xmlns:a16="http://schemas.microsoft.com/office/drawing/2014/main" val="1283266145"/>
                  </a:ext>
                </a:extLst>
              </a:tr>
              <a:tr h="1188720">
                <a:tc>
                  <a:txBody>
                    <a:bodyPr/>
                    <a:lstStyle/>
                    <a:p>
                      <a:pPr algn="ctr"/>
                      <a:r>
                        <a:rPr lang="en-US" sz="3600" dirty="0"/>
                        <a:t>CWE-226</a:t>
                      </a:r>
                    </a:p>
                  </a:txBody>
                  <a:tcPr anchor="ctr"/>
                </a:tc>
                <a:tc>
                  <a:txBody>
                    <a:bodyPr/>
                    <a:lstStyle/>
                    <a:p>
                      <a:pPr algn="ctr"/>
                      <a:r>
                        <a:rPr lang="en-US" sz="3600" dirty="0"/>
                        <a:t>31</a:t>
                      </a:r>
                    </a:p>
                  </a:txBody>
                  <a:tcPr anchor="ctr"/>
                </a:tc>
                <a:tc>
                  <a:txBody>
                    <a:bodyPr/>
                    <a:lstStyle/>
                    <a:p>
                      <a:pPr algn="ctr"/>
                      <a:r>
                        <a:rPr lang="en-US" sz="3600" dirty="0"/>
                        <a:t>21</a:t>
                      </a:r>
                    </a:p>
                  </a:txBody>
                  <a:tcPr anchor="ctr"/>
                </a:tc>
                <a:tc>
                  <a:txBody>
                    <a:bodyPr/>
                    <a:lstStyle/>
                    <a:p>
                      <a:pPr algn="ctr"/>
                      <a:r>
                        <a:rPr lang="en-US" sz="3600" dirty="0"/>
                        <a:t>1</a:t>
                      </a:r>
                    </a:p>
                  </a:txBody>
                  <a:tcPr anchor="ctr"/>
                </a:tc>
                <a:tc>
                  <a:txBody>
                    <a:bodyPr/>
                    <a:lstStyle/>
                    <a:p>
                      <a:pPr algn="ctr"/>
                      <a:r>
                        <a:rPr lang="en-US" sz="3600" dirty="0"/>
                        <a:t>10</a:t>
                      </a:r>
                    </a:p>
                  </a:txBody>
                  <a:tcPr anchor="ctr"/>
                </a:tc>
                <a:tc>
                  <a:txBody>
                    <a:bodyPr/>
                    <a:lstStyle/>
                    <a:p>
                      <a:pPr algn="ctr"/>
                      <a:r>
                        <a:rPr lang="en-US" sz="3600" dirty="0"/>
                        <a:t>95.5%</a:t>
                      </a:r>
                    </a:p>
                  </a:txBody>
                  <a:tcPr anchor="ctr"/>
                </a:tc>
                <a:tc>
                  <a:txBody>
                    <a:bodyPr/>
                    <a:lstStyle/>
                    <a:p>
                      <a:pPr algn="ctr"/>
                      <a:r>
                        <a:rPr lang="en-US" sz="3600" dirty="0"/>
                        <a:t>67.7%</a:t>
                      </a:r>
                    </a:p>
                  </a:txBody>
                  <a:tcPr anchor="ctr"/>
                </a:tc>
                <a:extLst>
                  <a:ext uri="{0D108BD9-81ED-4DB2-BD59-A6C34878D82A}">
                    <a16:rowId xmlns:a16="http://schemas.microsoft.com/office/drawing/2014/main" val="3677302737"/>
                  </a:ext>
                </a:extLst>
              </a:tr>
              <a:tr h="1188720">
                <a:tc>
                  <a:txBody>
                    <a:bodyPr/>
                    <a:lstStyle/>
                    <a:p>
                      <a:pPr algn="ctr"/>
                      <a:r>
                        <a:rPr lang="en-US" sz="3600" dirty="0"/>
                        <a:t>CWE-1431</a:t>
                      </a:r>
                    </a:p>
                  </a:txBody>
                  <a:tcPr anchor="ctr">
                    <a:lnB w="12700" cap="flat" cmpd="sng" algn="ctr">
                      <a:solidFill>
                        <a:schemeClr val="tx1"/>
                      </a:solidFill>
                      <a:prstDash val="solid"/>
                      <a:round/>
                      <a:headEnd type="none" w="med" len="med"/>
                      <a:tailEnd type="none" w="med" len="med"/>
                    </a:lnB>
                  </a:tcPr>
                </a:tc>
                <a:tc>
                  <a:txBody>
                    <a:bodyPr/>
                    <a:lstStyle/>
                    <a:p>
                      <a:pPr algn="ctr"/>
                      <a:r>
                        <a:rPr lang="en-US" sz="3600" dirty="0"/>
                        <a:t>10</a:t>
                      </a:r>
                    </a:p>
                  </a:txBody>
                  <a:tcPr anchor="ctr">
                    <a:lnB w="12700" cap="flat" cmpd="sng" algn="ctr">
                      <a:solidFill>
                        <a:schemeClr val="tx1"/>
                      </a:solidFill>
                      <a:prstDash val="solid"/>
                      <a:round/>
                      <a:headEnd type="none" w="med" len="med"/>
                      <a:tailEnd type="none" w="med" len="med"/>
                    </a:lnB>
                  </a:tcPr>
                </a:tc>
                <a:tc>
                  <a:txBody>
                    <a:bodyPr/>
                    <a:lstStyle/>
                    <a:p>
                      <a:pPr algn="ctr"/>
                      <a:r>
                        <a:rPr lang="en-US" sz="3600" dirty="0"/>
                        <a:t>10</a:t>
                      </a:r>
                    </a:p>
                  </a:txBody>
                  <a:tcPr anchor="ctr">
                    <a:lnB w="12700" cap="flat" cmpd="sng" algn="ctr">
                      <a:solidFill>
                        <a:schemeClr val="tx1"/>
                      </a:solidFill>
                      <a:prstDash val="solid"/>
                      <a:round/>
                      <a:headEnd type="none" w="med" len="med"/>
                      <a:tailEnd type="none" w="med" len="med"/>
                    </a:lnB>
                  </a:tcPr>
                </a:tc>
                <a:tc>
                  <a:txBody>
                    <a:bodyPr/>
                    <a:lstStyle/>
                    <a:p>
                      <a:pPr algn="ctr"/>
                      <a:r>
                        <a:rPr lang="en-US" sz="3600" dirty="0"/>
                        <a:t>0</a:t>
                      </a:r>
                    </a:p>
                  </a:txBody>
                  <a:tcPr anchor="ctr">
                    <a:lnB w="12700" cap="flat" cmpd="sng" algn="ctr">
                      <a:solidFill>
                        <a:schemeClr val="tx1"/>
                      </a:solidFill>
                      <a:prstDash val="solid"/>
                      <a:round/>
                      <a:headEnd type="none" w="med" len="med"/>
                      <a:tailEnd type="none" w="med" len="med"/>
                    </a:lnB>
                  </a:tcPr>
                </a:tc>
                <a:tc>
                  <a:txBody>
                    <a:bodyPr/>
                    <a:lstStyle/>
                    <a:p>
                      <a:pPr algn="ctr"/>
                      <a:r>
                        <a:rPr lang="en-US" sz="3600" dirty="0"/>
                        <a:t>0</a:t>
                      </a:r>
                    </a:p>
                  </a:txBody>
                  <a:tcPr anchor="ctr">
                    <a:lnB w="12700" cap="flat" cmpd="sng" algn="ctr">
                      <a:solidFill>
                        <a:schemeClr val="tx1"/>
                      </a:solidFill>
                      <a:prstDash val="solid"/>
                      <a:round/>
                      <a:headEnd type="none" w="med" len="med"/>
                      <a:tailEnd type="none" w="med" len="med"/>
                    </a:lnB>
                  </a:tcPr>
                </a:tc>
                <a:tc>
                  <a:txBody>
                    <a:bodyPr/>
                    <a:lstStyle/>
                    <a:p>
                      <a:pPr algn="ctr"/>
                      <a:r>
                        <a:rPr lang="en-US" sz="3600" dirty="0"/>
                        <a:t>100.0%</a:t>
                      </a:r>
                    </a:p>
                  </a:txBody>
                  <a:tcPr anchor="ctr">
                    <a:lnB w="12700" cap="flat" cmpd="sng" algn="ctr">
                      <a:solidFill>
                        <a:schemeClr val="tx1"/>
                      </a:solidFill>
                      <a:prstDash val="solid"/>
                      <a:round/>
                      <a:headEnd type="none" w="med" len="med"/>
                      <a:tailEnd type="none" w="med" len="med"/>
                    </a:lnB>
                  </a:tcPr>
                </a:tc>
                <a:tc>
                  <a:txBody>
                    <a:bodyPr/>
                    <a:lstStyle/>
                    <a:p>
                      <a:pPr algn="ctr"/>
                      <a:r>
                        <a:rPr lang="en-US" sz="3600" dirty="0"/>
                        <a:t>100.0%</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1727671"/>
                  </a:ext>
                </a:extLst>
              </a:tr>
              <a:tr h="1188720">
                <a:tc>
                  <a:txBody>
                    <a:bodyPr/>
                    <a:lstStyle/>
                    <a:p>
                      <a:pPr algn="ctr"/>
                      <a:r>
                        <a:rPr lang="en-US" sz="3600" dirty="0"/>
                        <a:t>Total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600" dirty="0"/>
                        <a:t>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600" dirty="0"/>
                        <a:t>59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600"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600" dirty="0"/>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600" dirty="0"/>
                        <a:t>85.5%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3600" dirty="0"/>
                        <a:t>73.8%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1309672"/>
                  </a:ext>
                </a:extLst>
              </a:tr>
            </a:tbl>
          </a:graphicData>
        </a:graphic>
      </p:graphicFrame>
      <p:sp>
        <p:nvSpPr>
          <p:cNvPr id="12" name="TextBox 11">
            <a:extLst>
              <a:ext uri="{FF2B5EF4-FFF2-40B4-BE49-F238E27FC236}">
                <a16:creationId xmlns:a16="http://schemas.microsoft.com/office/drawing/2014/main" id="{59913C7C-AD9D-821C-0F6C-6907C0E5A113}"/>
              </a:ext>
            </a:extLst>
          </p:cNvPr>
          <p:cNvSpPr txBox="1"/>
          <p:nvPr/>
        </p:nvSpPr>
        <p:spPr>
          <a:xfrm>
            <a:off x="481780" y="24687727"/>
            <a:ext cx="11786411" cy="7294305"/>
          </a:xfrm>
          <a:prstGeom prst="rect">
            <a:avLst/>
          </a:prstGeom>
          <a:noFill/>
          <a:ln>
            <a:noFill/>
          </a:ln>
        </p:spPr>
        <p:txBody>
          <a:bodyPr wrap="square" rtlCol="0">
            <a:spAutoFit/>
          </a:bodyPr>
          <a:lstStyle/>
          <a:p>
            <a:r>
              <a:rPr lang="en-US" sz="3600" b="1" dirty="0"/>
              <a:t>Common Weakness Enumeration (CWE)</a:t>
            </a:r>
          </a:p>
          <a:p>
            <a:r>
              <a:rPr lang="en-US" sz="3600" dirty="0"/>
              <a:t>Community-developed list of common software and hardware weaknesses that could lead to vulnerabilities</a:t>
            </a:r>
          </a:p>
          <a:p>
            <a:endParaRPr lang="en-US" sz="3600" dirty="0"/>
          </a:p>
          <a:p>
            <a:r>
              <a:rPr lang="en-US" sz="3600" dirty="0"/>
              <a:t>Four CWEs selected for detection:</a:t>
            </a:r>
          </a:p>
          <a:p>
            <a:pPr marL="571500" indent="-571500">
              <a:buFont typeface="Arial" panose="020B0604020202020204" pitchFamily="34" charset="0"/>
              <a:buChar char="•"/>
            </a:pPr>
            <a:r>
              <a:rPr lang="en-US" sz="3600" b="1" dirty="0"/>
              <a:t>CWE-1245: </a:t>
            </a:r>
            <a:r>
              <a:rPr lang="en-US" sz="3600" dirty="0"/>
              <a:t>Improper Finite State Machines (FSMs) in Hardware Logic</a:t>
            </a:r>
          </a:p>
          <a:p>
            <a:pPr marL="571500" indent="-571500">
              <a:buFont typeface="Arial" panose="020B0604020202020204" pitchFamily="34" charset="0"/>
              <a:buChar char="•"/>
            </a:pPr>
            <a:r>
              <a:rPr lang="en-US" sz="3600" b="1" dirty="0"/>
              <a:t>CWE-1233: </a:t>
            </a:r>
            <a:r>
              <a:rPr lang="en-US" sz="3600" dirty="0"/>
              <a:t>Security-Sensitive Hardware Controls with Missing Lock Bit Protection</a:t>
            </a:r>
            <a:endParaRPr lang="en-US" sz="3600" b="1" dirty="0"/>
          </a:p>
          <a:p>
            <a:pPr marL="571500" indent="-571500">
              <a:buFont typeface="Arial" panose="020B0604020202020204" pitchFamily="34" charset="0"/>
              <a:buChar char="•"/>
            </a:pPr>
            <a:r>
              <a:rPr lang="en-US" sz="3600" b="1" dirty="0"/>
              <a:t>CWE-226: </a:t>
            </a:r>
            <a:r>
              <a:rPr lang="en-US" sz="3600" dirty="0"/>
              <a:t>Sensitive Information in Resource Not Removed Before Reuse</a:t>
            </a:r>
            <a:endParaRPr lang="en-US" sz="3600" b="1" dirty="0"/>
          </a:p>
          <a:p>
            <a:pPr marL="571500" indent="-571500">
              <a:buFont typeface="Arial" panose="020B0604020202020204" pitchFamily="34" charset="0"/>
              <a:buChar char="•"/>
            </a:pPr>
            <a:r>
              <a:rPr lang="en-US" sz="3600" b="1" dirty="0"/>
              <a:t>CWE-1431: </a:t>
            </a:r>
            <a:r>
              <a:rPr lang="en-US" sz="3600" dirty="0"/>
              <a:t>Driving Intermediate Cryptographic State/Results to Hardware Module Outputs</a:t>
            </a:r>
            <a:endParaRPr lang="en-US" sz="3600" b="1" dirty="0"/>
          </a:p>
        </p:txBody>
      </p:sp>
      <p:sp>
        <p:nvSpPr>
          <p:cNvPr id="14" name="TextBox 13">
            <a:extLst>
              <a:ext uri="{FF2B5EF4-FFF2-40B4-BE49-F238E27FC236}">
                <a16:creationId xmlns:a16="http://schemas.microsoft.com/office/drawing/2014/main" id="{C1B1F6F3-95BB-A929-8D67-9AAE419F0EFD}"/>
              </a:ext>
            </a:extLst>
          </p:cNvPr>
          <p:cNvSpPr txBox="1"/>
          <p:nvPr/>
        </p:nvSpPr>
        <p:spPr>
          <a:xfrm>
            <a:off x="13180777" y="10642005"/>
            <a:ext cx="8160849" cy="4524315"/>
          </a:xfrm>
          <a:prstGeom prst="rect">
            <a:avLst/>
          </a:prstGeom>
          <a:noFill/>
          <a:ln>
            <a:noFill/>
          </a:ln>
        </p:spPr>
        <p:txBody>
          <a:bodyPr wrap="square" rtlCol="0">
            <a:spAutoFit/>
          </a:bodyPr>
          <a:lstStyle/>
          <a:p>
            <a:r>
              <a:rPr lang="en-US" sz="3600" b="1" dirty="0"/>
              <a:t>CWE-1245 Detection</a:t>
            </a:r>
          </a:p>
          <a:p>
            <a:pPr marL="742950" indent="-742950">
              <a:buFont typeface="+mj-lt"/>
              <a:buAutoNum type="arabicPeriod"/>
            </a:pPr>
            <a:r>
              <a:rPr lang="en-US" sz="3600" dirty="0"/>
              <a:t>Identify the state variable for FSM</a:t>
            </a:r>
          </a:p>
          <a:p>
            <a:pPr marL="742950" indent="-742950">
              <a:buFont typeface="+mj-lt"/>
              <a:buAutoNum type="arabicPeriod"/>
            </a:pPr>
            <a:r>
              <a:rPr lang="en-US" sz="3600" dirty="0"/>
              <a:t>Convert assignments to the state variable into FSM transitions</a:t>
            </a:r>
          </a:p>
          <a:p>
            <a:pPr marL="742950" indent="-742950">
              <a:buFont typeface="+mj-lt"/>
              <a:buAutoNum type="arabicPeriod"/>
            </a:pPr>
            <a:r>
              <a:rPr lang="en-US" sz="3600" dirty="0"/>
              <a:t>Search for</a:t>
            </a:r>
          </a:p>
          <a:p>
            <a:pPr marL="1200150" lvl="1" indent="-742950">
              <a:buFont typeface="Arial" panose="020B0604020202020204" pitchFamily="34" charset="0"/>
              <a:buChar char="•"/>
            </a:pPr>
            <a:r>
              <a:rPr lang="en-US" sz="3600" dirty="0"/>
              <a:t>Incomplete State Coverage</a:t>
            </a:r>
          </a:p>
          <a:p>
            <a:pPr marL="1200150" lvl="1" indent="-742950">
              <a:buFont typeface="Arial" panose="020B0604020202020204" pitchFamily="34" charset="0"/>
              <a:buChar char="•"/>
            </a:pPr>
            <a:r>
              <a:rPr lang="en-US" sz="3600" dirty="0"/>
              <a:t>Unreachable States</a:t>
            </a:r>
          </a:p>
          <a:p>
            <a:pPr marL="1200150" lvl="1" indent="-742950">
              <a:buFont typeface="Arial" panose="020B0604020202020204" pitchFamily="34" charset="0"/>
              <a:buChar char="•"/>
            </a:pPr>
            <a:r>
              <a:rPr lang="en-US" sz="3600" dirty="0"/>
              <a:t>Deadlock States</a:t>
            </a:r>
          </a:p>
        </p:txBody>
      </p:sp>
      <p:sp>
        <p:nvSpPr>
          <p:cNvPr id="15" name="TextBox 14">
            <a:extLst>
              <a:ext uri="{FF2B5EF4-FFF2-40B4-BE49-F238E27FC236}">
                <a16:creationId xmlns:a16="http://schemas.microsoft.com/office/drawing/2014/main" id="{76CB58B3-97DE-D009-547C-AA40BEE1ADA0}"/>
              </a:ext>
            </a:extLst>
          </p:cNvPr>
          <p:cNvSpPr txBox="1"/>
          <p:nvPr/>
        </p:nvSpPr>
        <p:spPr>
          <a:xfrm>
            <a:off x="21933310" y="16802535"/>
            <a:ext cx="8410564" cy="3970318"/>
          </a:xfrm>
          <a:prstGeom prst="rect">
            <a:avLst/>
          </a:prstGeom>
          <a:noFill/>
          <a:ln>
            <a:noFill/>
          </a:ln>
        </p:spPr>
        <p:txBody>
          <a:bodyPr wrap="square" rtlCol="0">
            <a:spAutoFit/>
          </a:bodyPr>
          <a:lstStyle/>
          <a:p>
            <a:r>
              <a:rPr lang="en-US" sz="3600" b="1" dirty="0"/>
              <a:t>CWE-1233 Detection</a:t>
            </a:r>
          </a:p>
          <a:p>
            <a:pPr marL="742950" indent="-742950">
              <a:buFont typeface="+mj-lt"/>
              <a:buAutoNum type="arabicPeriod"/>
            </a:pPr>
            <a:r>
              <a:rPr lang="en-US" sz="3600" dirty="0"/>
              <a:t>Identify lock bit registers</a:t>
            </a:r>
          </a:p>
          <a:p>
            <a:pPr marL="742950" indent="-742950">
              <a:buFont typeface="+mj-lt"/>
              <a:buAutoNum type="arabicPeriod"/>
            </a:pPr>
            <a:r>
              <a:rPr lang="en-US" sz="3600" dirty="0"/>
              <a:t>Identify security-sensitive registers</a:t>
            </a:r>
          </a:p>
          <a:p>
            <a:pPr marL="742950" indent="-742950">
              <a:buFont typeface="+mj-lt"/>
              <a:buAutoNum type="arabicPeriod"/>
            </a:pPr>
            <a:r>
              <a:rPr lang="en-US" sz="3600" dirty="0"/>
              <a:t>Gather assignments for each security-sensitive register</a:t>
            </a:r>
          </a:p>
          <a:p>
            <a:pPr marL="742950" indent="-742950">
              <a:buFont typeface="+mj-lt"/>
              <a:buAutoNum type="arabicPeriod"/>
            </a:pPr>
            <a:r>
              <a:rPr lang="en-US" sz="3600" dirty="0"/>
              <a:t>Ensure each assignment is protected with the lock bit</a:t>
            </a:r>
          </a:p>
        </p:txBody>
      </p:sp>
      <p:sp>
        <p:nvSpPr>
          <p:cNvPr id="16" name="TextBox 15">
            <a:extLst>
              <a:ext uri="{FF2B5EF4-FFF2-40B4-BE49-F238E27FC236}">
                <a16:creationId xmlns:a16="http://schemas.microsoft.com/office/drawing/2014/main" id="{8CBA964A-7B33-F86E-0FC0-9027F10575E9}"/>
              </a:ext>
            </a:extLst>
          </p:cNvPr>
          <p:cNvSpPr txBox="1"/>
          <p:nvPr/>
        </p:nvSpPr>
        <p:spPr>
          <a:xfrm>
            <a:off x="13180777" y="22223191"/>
            <a:ext cx="7664944" cy="4524315"/>
          </a:xfrm>
          <a:prstGeom prst="rect">
            <a:avLst/>
          </a:prstGeom>
          <a:noFill/>
          <a:ln>
            <a:noFill/>
          </a:ln>
        </p:spPr>
        <p:txBody>
          <a:bodyPr wrap="square" rtlCol="0">
            <a:spAutoFit/>
          </a:bodyPr>
          <a:lstStyle/>
          <a:p>
            <a:r>
              <a:rPr lang="en-US" sz="3600" b="1" dirty="0"/>
              <a:t>CWE-226 Detection</a:t>
            </a:r>
          </a:p>
          <a:p>
            <a:pPr marL="742950" indent="-742950">
              <a:buFont typeface="+mj-lt"/>
              <a:buAutoNum type="arabicPeriod"/>
            </a:pPr>
            <a:r>
              <a:rPr lang="en-US" sz="3600" dirty="0"/>
              <a:t>Identify reset signals</a:t>
            </a:r>
          </a:p>
          <a:p>
            <a:pPr marL="742950" indent="-742950">
              <a:buFont typeface="+mj-lt"/>
              <a:buAutoNum type="arabicPeriod"/>
            </a:pPr>
            <a:r>
              <a:rPr lang="en-US" sz="3600" dirty="0"/>
              <a:t>Identify sensitive registers that need to be reset</a:t>
            </a:r>
          </a:p>
          <a:p>
            <a:pPr marL="742950" indent="-742950">
              <a:buFont typeface="+mj-lt"/>
              <a:buAutoNum type="arabicPeriod"/>
            </a:pPr>
            <a:r>
              <a:rPr lang="en-US" sz="3600" dirty="0"/>
              <a:t>Ensure there is an assignment that resets the register within a conditional containing the reset register</a:t>
            </a:r>
          </a:p>
        </p:txBody>
      </p:sp>
      <p:sp>
        <p:nvSpPr>
          <p:cNvPr id="17" name="TextBox 16">
            <a:extLst>
              <a:ext uri="{FF2B5EF4-FFF2-40B4-BE49-F238E27FC236}">
                <a16:creationId xmlns:a16="http://schemas.microsoft.com/office/drawing/2014/main" id="{87D7CC16-5985-0F41-A62E-FCB641C23318}"/>
              </a:ext>
            </a:extLst>
          </p:cNvPr>
          <p:cNvSpPr txBox="1"/>
          <p:nvPr/>
        </p:nvSpPr>
        <p:spPr>
          <a:xfrm>
            <a:off x="21224602" y="28242605"/>
            <a:ext cx="8683336" cy="3970318"/>
          </a:xfrm>
          <a:prstGeom prst="rect">
            <a:avLst/>
          </a:prstGeom>
          <a:noFill/>
          <a:ln>
            <a:noFill/>
          </a:ln>
        </p:spPr>
        <p:txBody>
          <a:bodyPr wrap="square" rtlCol="0">
            <a:spAutoFit/>
          </a:bodyPr>
          <a:lstStyle/>
          <a:p>
            <a:r>
              <a:rPr lang="en-US" sz="3600" b="1" dirty="0"/>
              <a:t>CWE-1431 Detection</a:t>
            </a:r>
          </a:p>
          <a:p>
            <a:pPr marL="742950" indent="-742950">
              <a:buFont typeface="+mj-lt"/>
              <a:buAutoNum type="arabicPeriod"/>
            </a:pPr>
            <a:r>
              <a:rPr lang="en-US" sz="3600" dirty="0"/>
              <a:t>Identify cryptographic modules</a:t>
            </a:r>
          </a:p>
          <a:p>
            <a:pPr marL="742950" indent="-742950">
              <a:buFont typeface="+mj-lt"/>
              <a:buAutoNum type="arabicPeriod"/>
            </a:pPr>
            <a:r>
              <a:rPr lang="en-US" sz="3600" dirty="0"/>
              <a:t>Identify the output wire containing the result</a:t>
            </a:r>
          </a:p>
          <a:p>
            <a:pPr marL="742950" indent="-742950">
              <a:buFont typeface="+mj-lt"/>
              <a:buAutoNum type="arabicPeriod"/>
            </a:pPr>
            <a:r>
              <a:rPr lang="en-US" sz="3600" dirty="0"/>
              <a:t>Ensure assignments driven to the output wire are only made when the result is valid</a:t>
            </a:r>
          </a:p>
        </p:txBody>
      </p:sp>
      <p:sp>
        <p:nvSpPr>
          <p:cNvPr id="18" name="TextBox 17">
            <a:extLst>
              <a:ext uri="{FF2B5EF4-FFF2-40B4-BE49-F238E27FC236}">
                <a16:creationId xmlns:a16="http://schemas.microsoft.com/office/drawing/2014/main" id="{A7BAD085-3DAB-827B-5FE0-DD7317F1E823}"/>
              </a:ext>
            </a:extLst>
          </p:cNvPr>
          <p:cNvSpPr txBox="1"/>
          <p:nvPr/>
        </p:nvSpPr>
        <p:spPr>
          <a:xfrm>
            <a:off x="30481650" y="6413620"/>
            <a:ext cx="12832438" cy="646331"/>
          </a:xfrm>
          <a:prstGeom prst="rect">
            <a:avLst/>
          </a:prstGeom>
          <a:noFill/>
        </p:spPr>
        <p:txBody>
          <a:bodyPr wrap="square" rtlCol="0">
            <a:spAutoFit/>
          </a:bodyPr>
          <a:lstStyle/>
          <a:p>
            <a:r>
              <a:rPr lang="en-US" sz="3600" dirty="0"/>
              <a:t>Evaluated on a dataset of 39 Verilog and System Verilog files </a:t>
            </a:r>
          </a:p>
        </p:txBody>
      </p:sp>
      <p:sp>
        <p:nvSpPr>
          <p:cNvPr id="29" name="Rectangle 28" hidden="1">
            <a:extLst>
              <a:ext uri="{FF2B5EF4-FFF2-40B4-BE49-F238E27FC236}">
                <a16:creationId xmlns:a16="http://schemas.microsoft.com/office/drawing/2014/main" id="{3463CA76-0003-4BDA-7256-3C988717EC19}"/>
              </a:ext>
            </a:extLst>
          </p:cNvPr>
          <p:cNvSpPr>
            <a:spLocks noGrp="1" noRot="1" noMove="1" noResize="1" noEditPoints="1" noAdjustHandles="1" noChangeArrowheads="1" noChangeShapeType="1"/>
          </p:cNvSpPr>
          <p:nvPr/>
        </p:nvSpPr>
        <p:spPr bwMode="auto">
          <a:xfrm>
            <a:off x="12303001" y="4214696"/>
            <a:ext cx="609608" cy="28870296"/>
          </a:xfrm>
          <a:prstGeom prst="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09" charset="-128"/>
            </a:endParaRPr>
          </a:p>
        </p:txBody>
      </p:sp>
      <p:grpSp>
        <p:nvGrpSpPr>
          <p:cNvPr id="38" name="Group 37">
            <a:extLst>
              <a:ext uri="{FF2B5EF4-FFF2-40B4-BE49-F238E27FC236}">
                <a16:creationId xmlns:a16="http://schemas.microsoft.com/office/drawing/2014/main" id="{A49FA709-A3B2-73D2-03BF-D2EC9A4FCDF0}"/>
              </a:ext>
            </a:extLst>
          </p:cNvPr>
          <p:cNvGrpSpPr/>
          <p:nvPr/>
        </p:nvGrpSpPr>
        <p:grpSpPr>
          <a:xfrm>
            <a:off x="507151" y="18911074"/>
            <a:ext cx="11786420" cy="3606601"/>
            <a:chOff x="519879" y="18236010"/>
            <a:chExt cx="11786420" cy="3606601"/>
          </a:xfrm>
        </p:grpSpPr>
        <p:sp>
          <p:nvSpPr>
            <p:cNvPr id="21" name="Rectangle: Rounded Corners 20">
              <a:extLst>
                <a:ext uri="{FF2B5EF4-FFF2-40B4-BE49-F238E27FC236}">
                  <a16:creationId xmlns:a16="http://schemas.microsoft.com/office/drawing/2014/main" id="{E987C2BE-54B4-9AEC-4B07-42FDFD9AD280}"/>
                </a:ext>
              </a:extLst>
            </p:cNvPr>
            <p:cNvSpPr/>
            <p:nvPr/>
          </p:nvSpPr>
          <p:spPr bwMode="auto">
            <a:xfrm>
              <a:off x="519879" y="18236010"/>
              <a:ext cx="3352800" cy="1207235"/>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600" b="0" i="0" u="none" strike="noStrike" cap="none" normalizeH="0" baseline="0" dirty="0">
                  <a:ln>
                    <a:noFill/>
                  </a:ln>
                  <a:solidFill>
                    <a:schemeClr val="tx1"/>
                  </a:solidFill>
                  <a:effectLst/>
                  <a:latin typeface="Arial" charset="0"/>
                  <a:ea typeface="ＭＳ Ｐゴシック" pitchFamily="-109" charset="-128"/>
                </a:rPr>
                <a:t>Design Specification</a:t>
              </a:r>
            </a:p>
          </p:txBody>
        </p:sp>
        <p:sp>
          <p:nvSpPr>
            <p:cNvPr id="22" name="Rectangle: Rounded Corners 21">
              <a:extLst>
                <a:ext uri="{FF2B5EF4-FFF2-40B4-BE49-F238E27FC236}">
                  <a16:creationId xmlns:a16="http://schemas.microsoft.com/office/drawing/2014/main" id="{59E2B66F-F307-E5C3-E372-39E697A73EC1}"/>
                </a:ext>
              </a:extLst>
            </p:cNvPr>
            <p:cNvSpPr/>
            <p:nvPr/>
          </p:nvSpPr>
          <p:spPr bwMode="auto">
            <a:xfrm>
              <a:off x="2819399" y="20635376"/>
              <a:ext cx="3352800" cy="1207235"/>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3600" dirty="0">
                  <a:ea typeface="ＭＳ Ｐゴシック" pitchFamily="-109" charset="-128"/>
                </a:rPr>
                <a:t>RTL Design</a:t>
              </a:r>
              <a:endParaRPr kumimoji="0" lang="en-US" sz="3600" b="0" i="0" u="none" strike="noStrike" cap="none" normalizeH="0" baseline="0" dirty="0">
                <a:ln>
                  <a:noFill/>
                </a:ln>
                <a:solidFill>
                  <a:schemeClr val="tx1"/>
                </a:solidFill>
                <a:effectLst/>
                <a:latin typeface="Arial" charset="0"/>
                <a:ea typeface="ＭＳ Ｐゴシック" pitchFamily="-109" charset="-128"/>
              </a:endParaRPr>
            </a:p>
          </p:txBody>
        </p:sp>
        <p:sp>
          <p:nvSpPr>
            <p:cNvPr id="23" name="Rectangle: Rounded Corners 22">
              <a:extLst>
                <a:ext uri="{FF2B5EF4-FFF2-40B4-BE49-F238E27FC236}">
                  <a16:creationId xmlns:a16="http://schemas.microsoft.com/office/drawing/2014/main" id="{B1AA67B5-0DC9-518C-133C-84E5BD9CABBE}"/>
                </a:ext>
              </a:extLst>
            </p:cNvPr>
            <p:cNvSpPr/>
            <p:nvPr/>
          </p:nvSpPr>
          <p:spPr bwMode="auto">
            <a:xfrm>
              <a:off x="4736689" y="18236010"/>
              <a:ext cx="3352800" cy="1207235"/>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600" b="0" i="0" u="none" strike="noStrike" cap="none" normalizeH="0" baseline="0" dirty="0">
                  <a:ln>
                    <a:noFill/>
                  </a:ln>
                  <a:solidFill>
                    <a:schemeClr val="tx1"/>
                  </a:solidFill>
                  <a:effectLst/>
                  <a:latin typeface="Arial" charset="0"/>
                  <a:ea typeface="ＭＳ Ｐゴシック" pitchFamily="-109" charset="-128"/>
                </a:rPr>
                <a:t>Synthesis</a:t>
              </a:r>
            </a:p>
          </p:txBody>
        </p:sp>
        <p:sp>
          <p:nvSpPr>
            <p:cNvPr id="24" name="Rectangle: Rounded Corners 23">
              <a:extLst>
                <a:ext uri="{FF2B5EF4-FFF2-40B4-BE49-F238E27FC236}">
                  <a16:creationId xmlns:a16="http://schemas.microsoft.com/office/drawing/2014/main" id="{E1726CC2-2393-7D8A-4E0C-63457D67E343}"/>
                </a:ext>
              </a:extLst>
            </p:cNvPr>
            <p:cNvSpPr/>
            <p:nvPr/>
          </p:nvSpPr>
          <p:spPr bwMode="auto">
            <a:xfrm>
              <a:off x="6850010" y="20635375"/>
              <a:ext cx="3352800" cy="1207235"/>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600" b="0" i="0" u="none" strike="noStrike" cap="none" normalizeH="0" baseline="0" dirty="0">
                  <a:ln>
                    <a:noFill/>
                  </a:ln>
                  <a:solidFill>
                    <a:schemeClr val="tx1"/>
                  </a:solidFill>
                  <a:effectLst/>
                  <a:latin typeface="Arial" charset="0"/>
                  <a:ea typeface="ＭＳ Ｐゴシック" pitchFamily="-109" charset="-128"/>
                </a:rPr>
                <a:t>Gate Level Design</a:t>
              </a:r>
            </a:p>
          </p:txBody>
        </p:sp>
        <p:sp>
          <p:nvSpPr>
            <p:cNvPr id="25" name="Rectangle: Rounded Corners 24">
              <a:extLst>
                <a:ext uri="{FF2B5EF4-FFF2-40B4-BE49-F238E27FC236}">
                  <a16:creationId xmlns:a16="http://schemas.microsoft.com/office/drawing/2014/main" id="{A8C592FF-AF5E-AC9E-3970-612ED188D2F6}"/>
                </a:ext>
              </a:extLst>
            </p:cNvPr>
            <p:cNvSpPr/>
            <p:nvPr/>
          </p:nvSpPr>
          <p:spPr bwMode="auto">
            <a:xfrm>
              <a:off x="8953499" y="18236010"/>
              <a:ext cx="3352800" cy="1207235"/>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600" b="0" i="0" u="none" strike="noStrike" cap="none" normalizeH="0" baseline="0" dirty="0">
                  <a:ln>
                    <a:noFill/>
                  </a:ln>
                  <a:solidFill>
                    <a:schemeClr val="tx1"/>
                  </a:solidFill>
                  <a:effectLst/>
                  <a:latin typeface="Arial" charset="0"/>
                  <a:ea typeface="ＭＳ Ｐゴシック" pitchFamily="-109" charset="-128"/>
                </a:rPr>
                <a:t>Layout</a:t>
              </a:r>
            </a:p>
          </p:txBody>
        </p:sp>
        <p:sp>
          <p:nvSpPr>
            <p:cNvPr id="33" name="Arrow: Right 32">
              <a:extLst>
                <a:ext uri="{FF2B5EF4-FFF2-40B4-BE49-F238E27FC236}">
                  <a16:creationId xmlns:a16="http://schemas.microsoft.com/office/drawing/2014/main" id="{8F767AF8-933A-C645-39A4-65D33CC30B8D}"/>
                </a:ext>
              </a:extLst>
            </p:cNvPr>
            <p:cNvSpPr/>
            <p:nvPr/>
          </p:nvSpPr>
          <p:spPr bwMode="auto">
            <a:xfrm rot="2976759">
              <a:off x="2685471" y="19847478"/>
              <a:ext cx="1251125" cy="41043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600" b="0" i="0" u="none" strike="noStrike" cap="none" normalizeH="0" baseline="0">
                <a:ln>
                  <a:noFill/>
                </a:ln>
                <a:solidFill>
                  <a:schemeClr val="tx1"/>
                </a:solidFill>
                <a:effectLst/>
                <a:latin typeface="Arial" charset="0"/>
                <a:ea typeface="ＭＳ Ｐゴシック" pitchFamily="-109" charset="-128"/>
              </a:endParaRPr>
            </a:p>
          </p:txBody>
        </p:sp>
        <p:sp>
          <p:nvSpPr>
            <p:cNvPr id="34" name="Arrow: Right 33">
              <a:extLst>
                <a:ext uri="{FF2B5EF4-FFF2-40B4-BE49-F238E27FC236}">
                  <a16:creationId xmlns:a16="http://schemas.microsoft.com/office/drawing/2014/main" id="{2E92FFA7-72C9-0F8E-7BF9-1A97FE59F980}"/>
                </a:ext>
              </a:extLst>
            </p:cNvPr>
            <p:cNvSpPr/>
            <p:nvPr/>
          </p:nvSpPr>
          <p:spPr bwMode="auto">
            <a:xfrm rot="2976759">
              <a:off x="6970059" y="19884941"/>
              <a:ext cx="1251125" cy="41043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600" b="0" i="0" u="none" strike="noStrike" cap="none" normalizeH="0" baseline="0">
                <a:ln>
                  <a:noFill/>
                </a:ln>
                <a:solidFill>
                  <a:schemeClr val="tx1"/>
                </a:solidFill>
                <a:effectLst/>
                <a:latin typeface="Arial" charset="0"/>
                <a:ea typeface="ＭＳ Ｐゴシック" pitchFamily="-109" charset="-128"/>
              </a:endParaRPr>
            </a:p>
          </p:txBody>
        </p:sp>
        <p:sp>
          <p:nvSpPr>
            <p:cNvPr id="35" name="Arrow: Right 34">
              <a:extLst>
                <a:ext uri="{FF2B5EF4-FFF2-40B4-BE49-F238E27FC236}">
                  <a16:creationId xmlns:a16="http://schemas.microsoft.com/office/drawing/2014/main" id="{01F67774-0E1E-AD32-CBAA-2E5C5F62A186}"/>
                </a:ext>
              </a:extLst>
            </p:cNvPr>
            <p:cNvSpPr/>
            <p:nvPr/>
          </p:nvSpPr>
          <p:spPr bwMode="auto">
            <a:xfrm rot="18507835">
              <a:off x="4861653" y="19831926"/>
              <a:ext cx="1251125" cy="41043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600" b="0" i="0" u="none" strike="noStrike" cap="none" normalizeH="0" baseline="0">
                <a:ln>
                  <a:noFill/>
                </a:ln>
                <a:solidFill>
                  <a:schemeClr val="tx1"/>
                </a:solidFill>
                <a:effectLst/>
                <a:latin typeface="Arial" charset="0"/>
                <a:ea typeface="ＭＳ Ｐゴシック" pitchFamily="-109" charset="-128"/>
              </a:endParaRPr>
            </a:p>
          </p:txBody>
        </p:sp>
        <p:sp>
          <p:nvSpPr>
            <p:cNvPr id="37" name="Arrow: Right 36">
              <a:extLst>
                <a:ext uri="{FF2B5EF4-FFF2-40B4-BE49-F238E27FC236}">
                  <a16:creationId xmlns:a16="http://schemas.microsoft.com/office/drawing/2014/main" id="{C5EE2144-9F3C-BCA6-57E7-D080FCB714B2}"/>
                </a:ext>
              </a:extLst>
            </p:cNvPr>
            <p:cNvSpPr/>
            <p:nvPr/>
          </p:nvSpPr>
          <p:spPr bwMode="auto">
            <a:xfrm rot="18507835">
              <a:off x="9078463" y="19775227"/>
              <a:ext cx="1251125" cy="41043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600" b="0" i="0" u="none" strike="noStrike" cap="none" normalizeH="0" baseline="0">
                <a:ln>
                  <a:noFill/>
                </a:ln>
                <a:solidFill>
                  <a:schemeClr val="tx1"/>
                </a:solidFill>
                <a:effectLst/>
                <a:latin typeface="Arial" charset="0"/>
                <a:ea typeface="ＭＳ Ｐゴシック" pitchFamily="-109" charset="-128"/>
              </a:endParaRPr>
            </a:p>
          </p:txBody>
        </p:sp>
      </p:grpSp>
      <p:sp>
        <p:nvSpPr>
          <p:cNvPr id="40" name="TextBox 39">
            <a:extLst>
              <a:ext uri="{FF2B5EF4-FFF2-40B4-BE49-F238E27FC236}">
                <a16:creationId xmlns:a16="http://schemas.microsoft.com/office/drawing/2014/main" id="{88F3660F-3803-9379-A41B-EFC1770515C2}"/>
              </a:ext>
            </a:extLst>
          </p:cNvPr>
          <p:cNvSpPr txBox="1"/>
          <p:nvPr/>
        </p:nvSpPr>
        <p:spPr>
          <a:xfrm>
            <a:off x="536359" y="14099745"/>
            <a:ext cx="11786421" cy="4524315"/>
          </a:xfrm>
          <a:prstGeom prst="rect">
            <a:avLst/>
          </a:prstGeom>
          <a:noFill/>
        </p:spPr>
        <p:txBody>
          <a:bodyPr wrap="square" rtlCol="0">
            <a:spAutoFit/>
          </a:bodyPr>
          <a:lstStyle/>
          <a:p>
            <a:r>
              <a:rPr lang="en-US" sz="3600" b="1" dirty="0"/>
              <a:t>Register Transfer Level (RTL) </a:t>
            </a:r>
            <a:r>
              <a:rPr lang="en-US" sz="3600" dirty="0"/>
              <a:t>design is a stage in the digital circuit design process that describes the behavior and structure of a system. It defines how data moves between registers and the operations performed on that data. RTL designs are written using </a:t>
            </a:r>
            <a:r>
              <a:rPr lang="en-US" sz="3600" b="1" dirty="0"/>
              <a:t>hardware description languages (HDLs)</a:t>
            </a:r>
            <a:r>
              <a:rPr lang="en-US" sz="3600" dirty="0"/>
              <a:t> such as Verilog, SystemVerilog, or VHDL. Because RTL is expressed as code, it can be analyzed using static analysis techniques.</a:t>
            </a:r>
            <a:endParaRPr lang="en-US" sz="3600" b="1" dirty="0"/>
          </a:p>
        </p:txBody>
      </p:sp>
      <p:sp>
        <p:nvSpPr>
          <p:cNvPr id="41" name="TextBox 40">
            <a:extLst>
              <a:ext uri="{FF2B5EF4-FFF2-40B4-BE49-F238E27FC236}">
                <a16:creationId xmlns:a16="http://schemas.microsoft.com/office/drawing/2014/main" id="{C168D664-8019-AB7A-FD59-7E933BCA2552}"/>
              </a:ext>
            </a:extLst>
          </p:cNvPr>
          <p:cNvSpPr txBox="1"/>
          <p:nvPr/>
        </p:nvSpPr>
        <p:spPr>
          <a:xfrm>
            <a:off x="30481650" y="30208478"/>
            <a:ext cx="12964056" cy="2862322"/>
          </a:xfrm>
          <a:prstGeom prst="rect">
            <a:avLst/>
          </a:prstGeom>
          <a:noFill/>
        </p:spPr>
        <p:txBody>
          <a:bodyPr wrap="square" rtlCol="0">
            <a:spAutoFit/>
          </a:bodyPr>
          <a:lstStyle/>
          <a:p>
            <a:r>
              <a:rPr lang="en-US" sz="3600" dirty="0"/>
              <a:t>We are actively working to improve PickyRTL:</a:t>
            </a:r>
          </a:p>
          <a:p>
            <a:pPr marL="571500" indent="-571500">
              <a:buFont typeface="Arial" panose="020B0604020202020204" pitchFamily="34" charset="0"/>
              <a:buChar char="•"/>
            </a:pPr>
            <a:r>
              <a:rPr lang="en-US" sz="3600" dirty="0"/>
              <a:t>Creating a larger dataset</a:t>
            </a:r>
          </a:p>
          <a:p>
            <a:pPr marL="571500" indent="-571500">
              <a:buFont typeface="Arial" panose="020B0604020202020204" pitchFamily="34" charset="0"/>
              <a:buChar char="•"/>
            </a:pPr>
            <a:r>
              <a:rPr lang="en-US" sz="3600" dirty="0"/>
              <a:t>Improvements to each CWE detection algorithm</a:t>
            </a:r>
          </a:p>
          <a:p>
            <a:pPr marL="571500" indent="-571500">
              <a:buFont typeface="Arial" panose="020B0604020202020204" pitchFamily="34" charset="0"/>
              <a:buChar char="•"/>
            </a:pPr>
            <a:r>
              <a:rPr lang="en-US" sz="3600" dirty="0"/>
              <a:t>Extending coverage to additional CWEs</a:t>
            </a:r>
          </a:p>
          <a:p>
            <a:pPr marL="571500" indent="-571500">
              <a:buFont typeface="Arial" panose="020B0604020202020204" pitchFamily="34" charset="0"/>
              <a:buChar char="•"/>
            </a:pPr>
            <a:endParaRPr lang="en-US" sz="3600" dirty="0"/>
          </a:p>
        </p:txBody>
      </p:sp>
      <p:sp>
        <p:nvSpPr>
          <p:cNvPr id="42" name="Rectangle: Rounded Corners 41">
            <a:extLst>
              <a:ext uri="{FF2B5EF4-FFF2-40B4-BE49-F238E27FC236}">
                <a16:creationId xmlns:a16="http://schemas.microsoft.com/office/drawing/2014/main" id="{B53B554C-342A-0D33-5B6E-49A00068A004}"/>
              </a:ext>
            </a:extLst>
          </p:cNvPr>
          <p:cNvSpPr/>
          <p:nvPr/>
        </p:nvSpPr>
        <p:spPr bwMode="auto">
          <a:xfrm>
            <a:off x="30399700" y="17539910"/>
            <a:ext cx="12898245" cy="1531918"/>
          </a:xfrm>
          <a:prstGeom prst="roundRect">
            <a:avLst/>
          </a:prstGeom>
          <a:solidFill>
            <a:srgbClr val="D2203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5400" b="1" i="0" u="none" strike="noStrike" cap="none" normalizeH="0" baseline="0" dirty="0">
                <a:ln>
                  <a:noFill/>
                </a:ln>
                <a:solidFill>
                  <a:schemeClr val="bg1"/>
                </a:solidFill>
                <a:effectLst/>
                <a:latin typeface="Arial" charset="0"/>
                <a:ea typeface="ＭＳ Ｐゴシック" pitchFamily="-109" charset="-128"/>
              </a:rPr>
              <a:t>Limitations</a:t>
            </a:r>
          </a:p>
        </p:txBody>
      </p:sp>
      <p:sp>
        <p:nvSpPr>
          <p:cNvPr id="44" name="Rectangle: Rounded Corners 43">
            <a:extLst>
              <a:ext uri="{FF2B5EF4-FFF2-40B4-BE49-F238E27FC236}">
                <a16:creationId xmlns:a16="http://schemas.microsoft.com/office/drawing/2014/main" id="{833921A6-58C2-16C7-3531-FAFFA01B6550}"/>
              </a:ext>
            </a:extLst>
          </p:cNvPr>
          <p:cNvSpPr/>
          <p:nvPr/>
        </p:nvSpPr>
        <p:spPr bwMode="auto">
          <a:xfrm>
            <a:off x="45186600" y="5186292"/>
            <a:ext cx="12898245" cy="1531918"/>
          </a:xfrm>
          <a:prstGeom prst="roundRect">
            <a:avLst/>
          </a:prstGeom>
          <a:solidFill>
            <a:srgbClr val="D2203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5400" b="1" dirty="0">
                <a:solidFill>
                  <a:schemeClr val="bg1"/>
                </a:solidFill>
                <a:ea typeface="ＭＳ Ｐゴシック" pitchFamily="-109" charset="-128"/>
              </a:rPr>
              <a:t>References</a:t>
            </a:r>
            <a:endParaRPr kumimoji="0" lang="en-US" sz="5400" b="1" i="0" u="none" strike="noStrike" cap="none" normalizeH="0" baseline="0" dirty="0">
              <a:ln>
                <a:noFill/>
              </a:ln>
              <a:solidFill>
                <a:schemeClr val="bg1"/>
              </a:solidFill>
              <a:effectLst/>
              <a:latin typeface="Arial" charset="0"/>
              <a:ea typeface="ＭＳ Ｐゴシック" pitchFamily="-109" charset="-128"/>
            </a:endParaRPr>
          </a:p>
        </p:txBody>
      </p:sp>
      <p:pic>
        <p:nvPicPr>
          <p:cNvPr id="2068" name="Picture 20">
            <a:extLst>
              <a:ext uri="{FF2B5EF4-FFF2-40B4-BE49-F238E27FC236}">
                <a16:creationId xmlns:a16="http://schemas.microsoft.com/office/drawing/2014/main" id="{2814EF1D-93AE-D515-75F1-151D3104D1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2750" y="24687727"/>
            <a:ext cx="1857673" cy="667791"/>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46" hidden="1">
            <a:extLst>
              <a:ext uri="{FF2B5EF4-FFF2-40B4-BE49-F238E27FC236}">
                <a16:creationId xmlns:a16="http://schemas.microsoft.com/office/drawing/2014/main" id="{388DF7FC-E59C-EFAE-F5DC-B544E57B68A8}"/>
              </a:ext>
            </a:extLst>
          </p:cNvPr>
          <p:cNvSpPr>
            <a:spLocks noGrp="1" noRot="1" noMove="1" noResize="1" noEditPoints="1" noAdjustHandles="1" noChangeArrowheads="1" noChangeShapeType="1"/>
          </p:cNvSpPr>
          <p:nvPr/>
        </p:nvSpPr>
        <p:spPr bwMode="auto">
          <a:xfrm>
            <a:off x="29792032" y="4024196"/>
            <a:ext cx="609608" cy="28870296"/>
          </a:xfrm>
          <a:prstGeom prst="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09" charset="-128"/>
            </a:endParaRPr>
          </a:p>
        </p:txBody>
      </p:sp>
      <p:sp>
        <p:nvSpPr>
          <p:cNvPr id="56" name="TextBox 55">
            <a:extLst>
              <a:ext uri="{FF2B5EF4-FFF2-40B4-BE49-F238E27FC236}">
                <a16:creationId xmlns:a16="http://schemas.microsoft.com/office/drawing/2014/main" id="{1ED69BB9-1B7C-3244-426F-C731760A7067}"/>
              </a:ext>
            </a:extLst>
          </p:cNvPr>
          <p:cNvSpPr txBox="1"/>
          <p:nvPr/>
        </p:nvSpPr>
        <p:spPr>
          <a:xfrm>
            <a:off x="13070769" y="27709547"/>
            <a:ext cx="8031396" cy="5005626"/>
          </a:xfrm>
          <a:prstGeom prst="roundRect">
            <a:avLst/>
          </a:prstGeom>
          <a:solidFill>
            <a:schemeClr val="tx2">
              <a:lumMod val="65000"/>
              <a:lumOff val="35000"/>
            </a:schemeClr>
          </a:solidFill>
          <a:ln>
            <a:noFill/>
          </a:ln>
        </p:spPr>
        <p:txBody>
          <a:bodyPr wrap="square" rtlCol="0">
            <a:spAutoFit/>
          </a:bodyPr>
          <a:lstStyle/>
          <a:p>
            <a:r>
              <a:rPr lang="en-US" sz="3600" dirty="0">
                <a:solidFill>
                  <a:srgbClr val="FFFA00"/>
                </a:solidFill>
              </a:rPr>
              <a:t>module</a:t>
            </a:r>
            <a:r>
              <a:rPr lang="en-US" sz="3600" dirty="0"/>
              <a:t> </a:t>
            </a:r>
            <a:r>
              <a:rPr lang="en-US" sz="3600" dirty="0">
                <a:solidFill>
                  <a:schemeClr val="bg1"/>
                </a:solidFill>
              </a:rPr>
              <a:t>crypto</a:t>
            </a:r>
            <a:r>
              <a:rPr lang="en-US" sz="3600" dirty="0"/>
              <a:t> </a:t>
            </a:r>
            <a:r>
              <a:rPr lang="en-US" sz="3600" dirty="0">
                <a:solidFill>
                  <a:srgbClr val="9751CB"/>
                </a:solidFill>
              </a:rPr>
              <a:t>(</a:t>
            </a:r>
            <a:r>
              <a:rPr lang="en-US" sz="3600" dirty="0">
                <a:solidFill>
                  <a:srgbClr val="6DC0FF"/>
                </a:solidFill>
              </a:rPr>
              <a:t>input</a:t>
            </a:r>
            <a:r>
              <a:rPr lang="en-US" sz="3600" dirty="0"/>
              <a:t> </a:t>
            </a:r>
            <a:r>
              <a:rPr lang="en-US" sz="3600" dirty="0">
                <a:solidFill>
                  <a:schemeClr val="bg1"/>
                </a:solidFill>
              </a:rPr>
              <a:t>clk,</a:t>
            </a:r>
            <a:r>
              <a:rPr lang="en-US" sz="3600" dirty="0"/>
              <a:t> </a:t>
            </a:r>
            <a:r>
              <a:rPr lang="en-US" sz="3600" dirty="0">
                <a:solidFill>
                  <a:srgbClr val="6DC0FF"/>
                </a:solidFill>
              </a:rPr>
              <a:t>input</a:t>
            </a:r>
            <a:r>
              <a:rPr lang="en-US" sz="3600" dirty="0"/>
              <a:t> </a:t>
            </a:r>
            <a:r>
              <a:rPr lang="en-US" sz="3600" dirty="0">
                <a:solidFill>
                  <a:schemeClr val="bg1"/>
                </a:solidFill>
              </a:rPr>
              <a:t>data_i, </a:t>
            </a:r>
            <a:r>
              <a:rPr lang="en-US" sz="3600" dirty="0">
                <a:solidFill>
                  <a:srgbClr val="6DC0FF"/>
                </a:solidFill>
              </a:rPr>
              <a:t>output</a:t>
            </a:r>
            <a:r>
              <a:rPr lang="en-US" sz="3600" dirty="0"/>
              <a:t> </a:t>
            </a:r>
            <a:r>
              <a:rPr lang="en-US" sz="3600" dirty="0">
                <a:solidFill>
                  <a:schemeClr val="bg1"/>
                </a:solidFill>
              </a:rPr>
              <a:t>data_o</a:t>
            </a:r>
            <a:r>
              <a:rPr lang="en-US" sz="3600" dirty="0">
                <a:solidFill>
                  <a:srgbClr val="9751CB"/>
                </a:solidFill>
              </a:rPr>
              <a:t>)</a:t>
            </a:r>
            <a:r>
              <a:rPr lang="en-US" sz="3600" dirty="0">
                <a:solidFill>
                  <a:schemeClr val="accent3"/>
                </a:solidFill>
              </a:rPr>
              <a:t>;</a:t>
            </a:r>
          </a:p>
          <a:p>
            <a:r>
              <a:rPr lang="en-US" sz="3600" dirty="0"/>
              <a:t>	</a:t>
            </a:r>
            <a:r>
              <a:rPr lang="en-US" sz="3600" dirty="0">
                <a:solidFill>
                  <a:srgbClr val="6DC0FF"/>
                </a:solidFill>
              </a:rPr>
              <a:t>reg</a:t>
            </a:r>
            <a:r>
              <a:rPr lang="en-US" sz="3600" dirty="0"/>
              <a:t> </a:t>
            </a:r>
            <a:r>
              <a:rPr lang="en-US" sz="3600" dirty="0">
                <a:solidFill>
                  <a:schemeClr val="bg1"/>
                </a:solidFill>
              </a:rPr>
              <a:t>result, result_valid;</a:t>
            </a:r>
          </a:p>
          <a:p>
            <a:r>
              <a:rPr lang="en-US" sz="3600" dirty="0"/>
              <a:t>	</a:t>
            </a:r>
            <a:r>
              <a:rPr lang="en-US" sz="3600" dirty="0">
                <a:solidFill>
                  <a:srgbClr val="6DC0FF"/>
                </a:solidFill>
              </a:rPr>
              <a:t>always</a:t>
            </a:r>
            <a:r>
              <a:rPr lang="en-US" sz="3600" dirty="0"/>
              <a:t> </a:t>
            </a:r>
            <a:r>
              <a:rPr lang="en-US" sz="3600" dirty="0">
                <a:solidFill>
                  <a:schemeClr val="bg1"/>
                </a:solidFill>
              </a:rPr>
              <a:t>@</a:t>
            </a:r>
            <a:r>
              <a:rPr lang="en-US" sz="3600" dirty="0">
                <a:solidFill>
                  <a:srgbClr val="9751CB"/>
                </a:solidFill>
              </a:rPr>
              <a:t>(</a:t>
            </a:r>
            <a:r>
              <a:rPr lang="en-US" sz="3600" dirty="0">
                <a:solidFill>
                  <a:srgbClr val="6DC0FF"/>
                </a:solidFill>
              </a:rPr>
              <a:t>posedge</a:t>
            </a:r>
            <a:r>
              <a:rPr lang="en-US" sz="3600" dirty="0"/>
              <a:t> </a:t>
            </a:r>
            <a:r>
              <a:rPr lang="en-US" sz="3600" dirty="0">
                <a:solidFill>
                  <a:schemeClr val="bg1"/>
                </a:solidFill>
              </a:rPr>
              <a:t>clk</a:t>
            </a:r>
            <a:r>
              <a:rPr lang="en-US" sz="3600" dirty="0">
                <a:solidFill>
                  <a:srgbClr val="9751CB"/>
                </a:solidFill>
              </a:rPr>
              <a:t>)</a:t>
            </a:r>
            <a:r>
              <a:rPr lang="en-US" sz="3600" dirty="0">
                <a:solidFill>
                  <a:srgbClr val="7030A0"/>
                </a:solidFill>
              </a:rPr>
              <a:t> </a:t>
            </a:r>
            <a:r>
              <a:rPr lang="en-US" sz="3600" dirty="0">
                <a:solidFill>
                  <a:srgbClr val="A365D1"/>
                </a:solidFill>
              </a:rPr>
              <a:t>begin</a:t>
            </a:r>
          </a:p>
          <a:p>
            <a:r>
              <a:rPr lang="en-US" sz="3600" dirty="0"/>
              <a:t>		</a:t>
            </a:r>
            <a:r>
              <a:rPr lang="en-US" sz="3600" dirty="0">
                <a:solidFill>
                  <a:srgbClr val="00AC00"/>
                </a:solidFill>
              </a:rPr>
              <a:t>//…cryptographic operation</a:t>
            </a:r>
          </a:p>
          <a:p>
            <a:r>
              <a:rPr lang="en-US" sz="3600" dirty="0"/>
              <a:t>	</a:t>
            </a:r>
            <a:r>
              <a:rPr lang="en-US" sz="3600" dirty="0">
                <a:solidFill>
                  <a:srgbClr val="A365D1"/>
                </a:solidFill>
              </a:rPr>
              <a:t>end</a:t>
            </a:r>
          </a:p>
          <a:p>
            <a:r>
              <a:rPr lang="en-US" sz="3600" dirty="0"/>
              <a:t>	</a:t>
            </a:r>
            <a:r>
              <a:rPr lang="en-US" sz="3600" dirty="0">
                <a:solidFill>
                  <a:srgbClr val="6DC0FF"/>
                </a:solidFill>
              </a:rPr>
              <a:t>assign</a:t>
            </a:r>
            <a:r>
              <a:rPr lang="en-US" sz="3600" dirty="0"/>
              <a:t> </a:t>
            </a:r>
            <a:r>
              <a:rPr lang="en-US" sz="3600" dirty="0">
                <a:solidFill>
                  <a:schemeClr val="bg1"/>
                </a:solidFill>
              </a:rPr>
              <a:t>data_o = result;</a:t>
            </a:r>
          </a:p>
          <a:p>
            <a:r>
              <a:rPr lang="en-US" sz="3600" dirty="0">
                <a:solidFill>
                  <a:srgbClr val="FFFA00"/>
                </a:solidFill>
              </a:rPr>
              <a:t>endmodule</a:t>
            </a:r>
          </a:p>
        </p:txBody>
      </p:sp>
      <p:sp>
        <p:nvSpPr>
          <p:cNvPr id="54" name="Rectangle 53">
            <a:extLst>
              <a:ext uri="{FF2B5EF4-FFF2-40B4-BE49-F238E27FC236}">
                <a16:creationId xmlns:a16="http://schemas.microsoft.com/office/drawing/2014/main" id="{7449F366-D13C-EAF9-E49C-93C16C9F0641}"/>
              </a:ext>
            </a:extLst>
          </p:cNvPr>
          <p:cNvSpPr/>
          <p:nvPr/>
        </p:nvSpPr>
        <p:spPr bwMode="auto">
          <a:xfrm>
            <a:off x="14157611" y="31334261"/>
            <a:ext cx="4724400" cy="609600"/>
          </a:xfrm>
          <a:prstGeom prst="rect">
            <a:avLst/>
          </a:prstGeom>
          <a:noFill/>
          <a:ln w="762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09" charset="-128"/>
            </a:endParaRPr>
          </a:p>
        </p:txBody>
      </p:sp>
      <p:sp>
        <p:nvSpPr>
          <p:cNvPr id="57" name="TextBox 56">
            <a:extLst>
              <a:ext uri="{FF2B5EF4-FFF2-40B4-BE49-F238E27FC236}">
                <a16:creationId xmlns:a16="http://schemas.microsoft.com/office/drawing/2014/main" id="{07D2BE46-5A2D-3B6A-E530-9B1F12D1E7E6}"/>
              </a:ext>
            </a:extLst>
          </p:cNvPr>
          <p:cNvSpPr txBox="1"/>
          <p:nvPr/>
        </p:nvSpPr>
        <p:spPr>
          <a:xfrm>
            <a:off x="20581704" y="21369603"/>
            <a:ext cx="9100796" cy="6231493"/>
          </a:xfrm>
          <a:prstGeom prst="roundRect">
            <a:avLst/>
          </a:prstGeom>
          <a:solidFill>
            <a:schemeClr val="tx2">
              <a:lumMod val="65000"/>
              <a:lumOff val="35000"/>
            </a:schemeClr>
          </a:solidFill>
          <a:ln>
            <a:noFill/>
          </a:ln>
        </p:spPr>
        <p:txBody>
          <a:bodyPr wrap="square" rtlCol="0">
            <a:spAutoFit/>
          </a:bodyPr>
          <a:lstStyle/>
          <a:p>
            <a:r>
              <a:rPr lang="en-US" sz="3600" dirty="0">
                <a:solidFill>
                  <a:srgbClr val="FFFA00"/>
                </a:solidFill>
              </a:rPr>
              <a:t>module</a:t>
            </a:r>
            <a:r>
              <a:rPr lang="en-US" sz="3600" dirty="0"/>
              <a:t> </a:t>
            </a:r>
            <a:r>
              <a:rPr lang="en-US" sz="3600" dirty="0">
                <a:solidFill>
                  <a:schemeClr val="bg1"/>
                </a:solidFill>
              </a:rPr>
              <a:t>hash_msg</a:t>
            </a:r>
            <a:r>
              <a:rPr lang="en-US" sz="3600" dirty="0"/>
              <a:t> </a:t>
            </a:r>
            <a:r>
              <a:rPr lang="en-US" sz="3600" dirty="0">
                <a:solidFill>
                  <a:srgbClr val="9751CB"/>
                </a:solidFill>
              </a:rPr>
              <a:t>(</a:t>
            </a:r>
            <a:r>
              <a:rPr lang="en-US" sz="3600" dirty="0">
                <a:solidFill>
                  <a:srgbClr val="6DC0FF"/>
                </a:solidFill>
              </a:rPr>
              <a:t>input</a:t>
            </a:r>
            <a:r>
              <a:rPr lang="en-US" sz="3600" dirty="0"/>
              <a:t> </a:t>
            </a:r>
            <a:r>
              <a:rPr lang="en-US" sz="3600" dirty="0">
                <a:solidFill>
                  <a:schemeClr val="bg1"/>
                </a:solidFill>
              </a:rPr>
              <a:t>clk,</a:t>
            </a:r>
            <a:r>
              <a:rPr lang="en-US" sz="3600" dirty="0"/>
              <a:t> </a:t>
            </a:r>
            <a:r>
              <a:rPr lang="en-US" sz="3600" dirty="0">
                <a:solidFill>
                  <a:srgbClr val="6DC0FF"/>
                </a:solidFill>
              </a:rPr>
              <a:t>input</a:t>
            </a:r>
            <a:r>
              <a:rPr lang="en-US" sz="3600" dirty="0"/>
              <a:t> </a:t>
            </a:r>
            <a:r>
              <a:rPr lang="en-US" sz="3600" dirty="0">
                <a:solidFill>
                  <a:schemeClr val="bg1"/>
                </a:solidFill>
              </a:rPr>
              <a:t>rst, </a:t>
            </a:r>
            <a:r>
              <a:rPr lang="en-US" sz="3600" dirty="0">
                <a:solidFill>
                  <a:srgbClr val="6DC0FF"/>
                </a:solidFill>
              </a:rPr>
              <a:t>input</a:t>
            </a:r>
            <a:r>
              <a:rPr lang="en-US" sz="3600" dirty="0">
                <a:solidFill>
                  <a:schemeClr val="bg1"/>
                </a:solidFill>
              </a:rPr>
              <a:t> msg, </a:t>
            </a:r>
            <a:r>
              <a:rPr lang="en-US" sz="3600" dirty="0">
                <a:solidFill>
                  <a:srgbClr val="6DC0FF"/>
                </a:solidFill>
              </a:rPr>
              <a:t>output</a:t>
            </a:r>
            <a:r>
              <a:rPr lang="en-US" sz="3600" dirty="0"/>
              <a:t> </a:t>
            </a:r>
            <a:r>
              <a:rPr lang="en-US" sz="3600" dirty="0">
                <a:solidFill>
                  <a:schemeClr val="bg1"/>
                </a:solidFill>
              </a:rPr>
              <a:t>hash</a:t>
            </a:r>
            <a:r>
              <a:rPr lang="en-US" sz="3600" dirty="0">
                <a:solidFill>
                  <a:srgbClr val="9751CB"/>
                </a:solidFill>
              </a:rPr>
              <a:t>)</a:t>
            </a:r>
            <a:r>
              <a:rPr lang="en-US" sz="3600" dirty="0">
                <a:solidFill>
                  <a:schemeClr val="accent3"/>
                </a:solidFill>
              </a:rPr>
              <a:t>;</a:t>
            </a:r>
          </a:p>
          <a:p>
            <a:r>
              <a:rPr lang="en-US" sz="3600" dirty="0"/>
              <a:t>	</a:t>
            </a:r>
            <a:r>
              <a:rPr lang="en-US" sz="3600" dirty="0">
                <a:solidFill>
                  <a:srgbClr val="6DC0FF"/>
                </a:solidFill>
              </a:rPr>
              <a:t>always</a:t>
            </a:r>
            <a:r>
              <a:rPr lang="en-US" sz="3600" dirty="0"/>
              <a:t> </a:t>
            </a:r>
            <a:r>
              <a:rPr lang="en-US" sz="3600" dirty="0">
                <a:solidFill>
                  <a:schemeClr val="bg1"/>
                </a:solidFill>
              </a:rPr>
              <a:t>@</a:t>
            </a:r>
            <a:r>
              <a:rPr lang="en-US" sz="3600" dirty="0">
                <a:solidFill>
                  <a:srgbClr val="9751CB"/>
                </a:solidFill>
              </a:rPr>
              <a:t>(</a:t>
            </a:r>
            <a:r>
              <a:rPr lang="en-US" sz="3600" dirty="0">
                <a:solidFill>
                  <a:srgbClr val="6DC0FF"/>
                </a:solidFill>
              </a:rPr>
              <a:t>posedge</a:t>
            </a:r>
            <a:r>
              <a:rPr lang="en-US" sz="3600" dirty="0"/>
              <a:t> </a:t>
            </a:r>
            <a:r>
              <a:rPr lang="en-US" sz="3600" dirty="0">
                <a:solidFill>
                  <a:schemeClr val="bg1"/>
                </a:solidFill>
              </a:rPr>
              <a:t>clk</a:t>
            </a:r>
            <a:r>
              <a:rPr lang="en-US" sz="3600" dirty="0">
                <a:solidFill>
                  <a:srgbClr val="9751CB"/>
                </a:solidFill>
              </a:rPr>
              <a:t>)</a:t>
            </a:r>
            <a:r>
              <a:rPr lang="en-US" sz="3600" dirty="0">
                <a:solidFill>
                  <a:srgbClr val="7030A0"/>
                </a:solidFill>
              </a:rPr>
              <a:t> </a:t>
            </a:r>
            <a:r>
              <a:rPr lang="en-US" sz="3600" dirty="0">
                <a:solidFill>
                  <a:srgbClr val="A365D1"/>
                </a:solidFill>
              </a:rPr>
              <a:t>begin</a:t>
            </a:r>
          </a:p>
          <a:p>
            <a:r>
              <a:rPr lang="en-US" sz="3600" dirty="0">
                <a:solidFill>
                  <a:srgbClr val="A365D1"/>
                </a:solidFill>
              </a:rPr>
              <a:t>		</a:t>
            </a:r>
            <a:r>
              <a:rPr lang="en-US" sz="3600" dirty="0">
                <a:solidFill>
                  <a:srgbClr val="6DC0FF"/>
                </a:solidFill>
              </a:rPr>
              <a:t>if (</a:t>
            </a:r>
            <a:r>
              <a:rPr lang="en-US" sz="3600" dirty="0">
                <a:solidFill>
                  <a:schemeClr val="bg1"/>
                </a:solidFill>
              </a:rPr>
              <a:t>rst</a:t>
            </a:r>
            <a:r>
              <a:rPr lang="en-US" sz="3600" dirty="0">
                <a:solidFill>
                  <a:srgbClr val="6DC0FF"/>
                </a:solidFill>
              </a:rPr>
              <a:t>) begin</a:t>
            </a:r>
          </a:p>
          <a:p>
            <a:r>
              <a:rPr lang="en-US" sz="3600" dirty="0">
                <a:solidFill>
                  <a:srgbClr val="A365D1"/>
                </a:solidFill>
              </a:rPr>
              <a:t>			</a:t>
            </a:r>
            <a:r>
              <a:rPr lang="en-US" sz="3600" dirty="0">
                <a:solidFill>
                  <a:schemeClr val="bg1"/>
                </a:solidFill>
              </a:rPr>
              <a:t>hash = 0</a:t>
            </a:r>
          </a:p>
          <a:p>
            <a:r>
              <a:rPr lang="en-US" sz="3600" dirty="0">
                <a:solidFill>
                  <a:srgbClr val="A365D1"/>
                </a:solidFill>
              </a:rPr>
              <a:t>			</a:t>
            </a:r>
            <a:r>
              <a:rPr lang="en-US" sz="3600" dirty="0">
                <a:solidFill>
                  <a:srgbClr val="D22030"/>
                </a:solidFill>
              </a:rPr>
              <a:t>// msg never cleared</a:t>
            </a:r>
          </a:p>
          <a:p>
            <a:r>
              <a:rPr lang="en-US" sz="3600" dirty="0">
                <a:solidFill>
                  <a:srgbClr val="A365D1"/>
                </a:solidFill>
              </a:rPr>
              <a:t>		end</a:t>
            </a:r>
          </a:p>
          <a:p>
            <a:r>
              <a:rPr lang="en-US" sz="3600" dirty="0"/>
              <a:t>	</a:t>
            </a:r>
            <a:r>
              <a:rPr lang="en-US" sz="3600" dirty="0">
                <a:solidFill>
                  <a:srgbClr val="00D200"/>
                </a:solidFill>
              </a:rPr>
              <a:t>	</a:t>
            </a:r>
            <a:r>
              <a:rPr lang="en-US" sz="3600" dirty="0">
                <a:solidFill>
                  <a:srgbClr val="00AC00"/>
                </a:solidFill>
              </a:rPr>
              <a:t>//…hashing logic</a:t>
            </a:r>
          </a:p>
          <a:p>
            <a:r>
              <a:rPr lang="en-US" sz="3600" dirty="0"/>
              <a:t>	</a:t>
            </a:r>
            <a:r>
              <a:rPr lang="en-US" sz="3600" dirty="0">
                <a:solidFill>
                  <a:srgbClr val="A365D1"/>
                </a:solidFill>
              </a:rPr>
              <a:t>end</a:t>
            </a:r>
          </a:p>
          <a:p>
            <a:r>
              <a:rPr lang="en-US" sz="3600" dirty="0">
                <a:solidFill>
                  <a:srgbClr val="FFFA00"/>
                </a:solidFill>
              </a:rPr>
              <a:t>endmodule</a:t>
            </a:r>
          </a:p>
        </p:txBody>
      </p:sp>
      <p:grpSp>
        <p:nvGrpSpPr>
          <p:cNvPr id="2049" name="Group 2048">
            <a:extLst>
              <a:ext uri="{FF2B5EF4-FFF2-40B4-BE49-F238E27FC236}">
                <a16:creationId xmlns:a16="http://schemas.microsoft.com/office/drawing/2014/main" id="{2E148F00-2789-320F-88B1-C13782DADCD1}"/>
              </a:ext>
            </a:extLst>
          </p:cNvPr>
          <p:cNvGrpSpPr/>
          <p:nvPr/>
        </p:nvGrpSpPr>
        <p:grpSpPr>
          <a:xfrm>
            <a:off x="13070769" y="16255524"/>
            <a:ext cx="8364545" cy="5005626"/>
            <a:chOff x="12901189" y="15419209"/>
            <a:chExt cx="8364545" cy="5005626"/>
          </a:xfrm>
        </p:grpSpPr>
        <p:sp>
          <p:nvSpPr>
            <p:cNvPr id="60" name="TextBox 59">
              <a:extLst>
                <a:ext uri="{FF2B5EF4-FFF2-40B4-BE49-F238E27FC236}">
                  <a16:creationId xmlns:a16="http://schemas.microsoft.com/office/drawing/2014/main" id="{9D8F8F1B-BF49-82CA-5D2E-684623D04FEB}"/>
                </a:ext>
              </a:extLst>
            </p:cNvPr>
            <p:cNvSpPr txBox="1"/>
            <p:nvPr/>
          </p:nvSpPr>
          <p:spPr>
            <a:xfrm>
              <a:off x="12901189" y="15419209"/>
              <a:ext cx="8364545" cy="5005626"/>
            </a:xfrm>
            <a:prstGeom prst="roundRect">
              <a:avLst/>
            </a:prstGeom>
            <a:solidFill>
              <a:schemeClr val="tx2">
                <a:lumMod val="65000"/>
                <a:lumOff val="35000"/>
              </a:schemeClr>
            </a:solidFill>
            <a:ln>
              <a:noFill/>
            </a:ln>
          </p:spPr>
          <p:txBody>
            <a:bodyPr wrap="square" rtlCol="0">
              <a:spAutoFit/>
            </a:bodyPr>
            <a:lstStyle/>
            <a:p>
              <a:r>
                <a:rPr lang="en-US" sz="3600" dirty="0">
                  <a:solidFill>
                    <a:srgbClr val="FFFA00"/>
                  </a:solidFill>
                </a:rPr>
                <a:t>module</a:t>
              </a:r>
              <a:r>
                <a:rPr lang="en-US" sz="3600" dirty="0"/>
                <a:t> </a:t>
              </a:r>
              <a:r>
                <a:rPr lang="en-US" sz="3600" dirty="0">
                  <a:solidFill>
                    <a:schemeClr val="bg1"/>
                  </a:solidFill>
                </a:rPr>
                <a:t>unprotected_key</a:t>
              </a:r>
              <a:r>
                <a:rPr lang="en-US" sz="3600" dirty="0"/>
                <a:t> </a:t>
              </a:r>
              <a:r>
                <a:rPr lang="en-US" sz="3600" dirty="0">
                  <a:solidFill>
                    <a:srgbClr val="9751CB"/>
                  </a:solidFill>
                </a:rPr>
                <a:t>(</a:t>
              </a:r>
              <a:r>
                <a:rPr lang="en-US" sz="3600" dirty="0">
                  <a:solidFill>
                    <a:srgbClr val="6DC0FF"/>
                  </a:solidFill>
                </a:rPr>
                <a:t>input</a:t>
              </a:r>
              <a:r>
                <a:rPr lang="en-US" sz="3600" dirty="0"/>
                <a:t> </a:t>
              </a:r>
              <a:r>
                <a:rPr lang="en-US" sz="3600" dirty="0">
                  <a:solidFill>
                    <a:schemeClr val="bg1"/>
                  </a:solidFill>
                </a:rPr>
                <a:t>clk,</a:t>
              </a:r>
              <a:r>
                <a:rPr lang="en-US" sz="3600" dirty="0"/>
                <a:t> </a:t>
              </a:r>
              <a:r>
                <a:rPr lang="en-US" sz="3600" dirty="0">
                  <a:solidFill>
                    <a:srgbClr val="6DC0FF"/>
                  </a:solidFill>
                </a:rPr>
                <a:t>input</a:t>
              </a:r>
              <a:r>
                <a:rPr lang="en-US" sz="3600" dirty="0"/>
                <a:t> </a:t>
              </a:r>
              <a:r>
                <a:rPr lang="en-US" sz="3600" dirty="0">
                  <a:solidFill>
                    <a:schemeClr val="bg1"/>
                  </a:solidFill>
                </a:rPr>
                <a:t>reglk, </a:t>
              </a:r>
              <a:r>
                <a:rPr lang="en-US" sz="3600" dirty="0">
                  <a:solidFill>
                    <a:srgbClr val="6DC0FF"/>
                  </a:solidFill>
                </a:rPr>
                <a:t>input</a:t>
              </a:r>
              <a:r>
                <a:rPr lang="en-US" sz="3600" dirty="0"/>
                <a:t> </a:t>
              </a:r>
              <a:r>
                <a:rPr lang="en-US" sz="3600" dirty="0">
                  <a:solidFill>
                    <a:schemeClr val="bg1"/>
                  </a:solidFill>
                </a:rPr>
                <a:t>data</a:t>
              </a:r>
              <a:r>
                <a:rPr lang="en-US" sz="3600" dirty="0">
                  <a:solidFill>
                    <a:srgbClr val="9751CB"/>
                  </a:solidFill>
                </a:rPr>
                <a:t>)</a:t>
              </a:r>
              <a:r>
                <a:rPr lang="en-US" sz="3600" dirty="0">
                  <a:solidFill>
                    <a:schemeClr val="accent3"/>
                  </a:solidFill>
                </a:rPr>
                <a:t>;</a:t>
              </a:r>
            </a:p>
            <a:p>
              <a:r>
                <a:rPr lang="en-US" sz="3600" dirty="0"/>
                <a:t>	</a:t>
              </a:r>
              <a:r>
                <a:rPr lang="en-US" sz="3600" dirty="0">
                  <a:solidFill>
                    <a:srgbClr val="6DC0FF"/>
                  </a:solidFill>
                </a:rPr>
                <a:t>reg</a:t>
              </a:r>
              <a:r>
                <a:rPr lang="en-US" sz="3600" dirty="0"/>
                <a:t> </a:t>
              </a:r>
              <a:r>
                <a:rPr lang="en-US" sz="3600" dirty="0">
                  <a:solidFill>
                    <a:schemeClr val="bg1"/>
                  </a:solidFill>
                </a:rPr>
                <a:t>key0, key1;</a:t>
              </a:r>
            </a:p>
            <a:p>
              <a:r>
                <a:rPr lang="en-US" sz="3600" dirty="0"/>
                <a:t>	</a:t>
              </a:r>
              <a:r>
                <a:rPr lang="en-US" sz="3600" dirty="0">
                  <a:solidFill>
                    <a:srgbClr val="6DC0FF"/>
                  </a:solidFill>
                </a:rPr>
                <a:t>always</a:t>
              </a:r>
              <a:r>
                <a:rPr lang="en-US" sz="3600" dirty="0"/>
                <a:t> </a:t>
              </a:r>
              <a:r>
                <a:rPr lang="en-US" sz="3600" dirty="0">
                  <a:solidFill>
                    <a:schemeClr val="bg1"/>
                  </a:solidFill>
                </a:rPr>
                <a:t>@</a:t>
              </a:r>
              <a:r>
                <a:rPr lang="en-US" sz="3600" dirty="0">
                  <a:solidFill>
                    <a:srgbClr val="9751CB"/>
                  </a:solidFill>
                </a:rPr>
                <a:t>(</a:t>
              </a:r>
              <a:r>
                <a:rPr lang="en-US" sz="3600" dirty="0">
                  <a:solidFill>
                    <a:srgbClr val="6DC0FF"/>
                  </a:solidFill>
                </a:rPr>
                <a:t>posedge</a:t>
              </a:r>
              <a:r>
                <a:rPr lang="en-US" sz="3600" dirty="0"/>
                <a:t> </a:t>
              </a:r>
              <a:r>
                <a:rPr lang="en-US" sz="3600" dirty="0">
                  <a:solidFill>
                    <a:schemeClr val="bg1"/>
                  </a:solidFill>
                </a:rPr>
                <a:t>clk</a:t>
              </a:r>
              <a:r>
                <a:rPr lang="en-US" sz="3600" dirty="0">
                  <a:solidFill>
                    <a:srgbClr val="9751CB"/>
                  </a:solidFill>
                </a:rPr>
                <a:t>)</a:t>
              </a:r>
              <a:r>
                <a:rPr lang="en-US" sz="3600" dirty="0">
                  <a:solidFill>
                    <a:srgbClr val="7030A0"/>
                  </a:solidFill>
                </a:rPr>
                <a:t> </a:t>
              </a:r>
              <a:r>
                <a:rPr lang="en-US" sz="3600" dirty="0">
                  <a:solidFill>
                    <a:srgbClr val="A365D1"/>
                  </a:solidFill>
                </a:rPr>
                <a:t>begin</a:t>
              </a:r>
            </a:p>
            <a:p>
              <a:r>
                <a:rPr lang="en-US" sz="3600" dirty="0"/>
                <a:t>		</a:t>
              </a:r>
              <a:r>
                <a:rPr lang="en-US" sz="3600" dirty="0">
                  <a:solidFill>
                    <a:schemeClr val="bg1"/>
                  </a:solidFill>
                </a:rPr>
                <a:t>key0 = data;</a:t>
              </a:r>
            </a:p>
            <a:p>
              <a:r>
                <a:rPr lang="en-US" sz="3600" dirty="0">
                  <a:solidFill>
                    <a:schemeClr val="bg1"/>
                  </a:solidFill>
                </a:rPr>
                <a:t>		key1 = reglk ? key1 : data;</a:t>
              </a:r>
              <a:endParaRPr lang="en-US" sz="3600" dirty="0">
                <a:solidFill>
                  <a:srgbClr val="00D200"/>
                </a:solidFill>
              </a:endParaRPr>
            </a:p>
            <a:p>
              <a:r>
                <a:rPr lang="en-US" sz="3600" dirty="0"/>
                <a:t>	</a:t>
              </a:r>
              <a:r>
                <a:rPr lang="en-US" sz="3600" dirty="0">
                  <a:solidFill>
                    <a:srgbClr val="A365D1"/>
                  </a:solidFill>
                </a:rPr>
                <a:t>end</a:t>
              </a:r>
            </a:p>
            <a:p>
              <a:r>
                <a:rPr lang="en-US" sz="3600" dirty="0">
                  <a:solidFill>
                    <a:srgbClr val="FFFA00"/>
                  </a:solidFill>
                </a:rPr>
                <a:t>endmodule</a:t>
              </a:r>
            </a:p>
          </p:txBody>
        </p:sp>
        <p:sp>
          <p:nvSpPr>
            <p:cNvPr id="61" name="Rectangle 60">
              <a:extLst>
                <a:ext uri="{FF2B5EF4-FFF2-40B4-BE49-F238E27FC236}">
                  <a16:creationId xmlns:a16="http://schemas.microsoft.com/office/drawing/2014/main" id="{D6AB25F0-0211-D2FB-4710-ABA84639E9EB}"/>
                </a:ext>
              </a:extLst>
            </p:cNvPr>
            <p:cNvSpPr/>
            <p:nvPr/>
          </p:nvSpPr>
          <p:spPr bwMode="auto">
            <a:xfrm>
              <a:off x="14859000" y="17922441"/>
              <a:ext cx="2971800" cy="574866"/>
            </a:xfrm>
            <a:prstGeom prst="rect">
              <a:avLst/>
            </a:prstGeom>
            <a:noFill/>
            <a:ln w="762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09" charset="-128"/>
              </a:endParaRPr>
            </a:p>
          </p:txBody>
        </p:sp>
      </p:grpSp>
      <p:grpSp>
        <p:nvGrpSpPr>
          <p:cNvPr id="2053" name="Group 2052">
            <a:extLst>
              <a:ext uri="{FF2B5EF4-FFF2-40B4-BE49-F238E27FC236}">
                <a16:creationId xmlns:a16="http://schemas.microsoft.com/office/drawing/2014/main" id="{FE9B18BB-8BB8-F370-4AE3-528EBE9BD2E6}"/>
              </a:ext>
            </a:extLst>
          </p:cNvPr>
          <p:cNvGrpSpPr/>
          <p:nvPr/>
        </p:nvGrpSpPr>
        <p:grpSpPr>
          <a:xfrm>
            <a:off x="21102165" y="9587511"/>
            <a:ext cx="8580334" cy="6707063"/>
            <a:chOff x="21536992" y="10231408"/>
            <a:chExt cx="8726202" cy="7249836"/>
          </a:xfrm>
        </p:grpSpPr>
        <p:sp>
          <p:nvSpPr>
            <p:cNvPr id="2048" name="TextBox 2047">
              <a:extLst>
                <a:ext uri="{FF2B5EF4-FFF2-40B4-BE49-F238E27FC236}">
                  <a16:creationId xmlns:a16="http://schemas.microsoft.com/office/drawing/2014/main" id="{F6741C9E-A9B5-AF15-573C-7B3ADF441F10}"/>
                </a:ext>
              </a:extLst>
            </p:cNvPr>
            <p:cNvSpPr txBox="1"/>
            <p:nvPr/>
          </p:nvSpPr>
          <p:spPr>
            <a:xfrm>
              <a:off x="21536992" y="10231408"/>
              <a:ext cx="8726202" cy="7249836"/>
            </a:xfrm>
            <a:prstGeom prst="roundRect">
              <a:avLst/>
            </a:prstGeom>
            <a:solidFill>
              <a:schemeClr val="tx2">
                <a:lumMod val="65000"/>
                <a:lumOff val="35000"/>
              </a:schemeClr>
            </a:solidFill>
            <a:ln>
              <a:noFill/>
            </a:ln>
          </p:spPr>
          <p:txBody>
            <a:bodyPr wrap="square" rtlCol="0">
              <a:spAutoFit/>
            </a:bodyPr>
            <a:lstStyle/>
            <a:p>
              <a:r>
                <a:rPr lang="en-US" sz="3600" dirty="0">
                  <a:solidFill>
                    <a:srgbClr val="FFFA00"/>
                  </a:solidFill>
                </a:rPr>
                <a:t>module</a:t>
              </a:r>
              <a:r>
                <a:rPr lang="en-US" sz="3600" dirty="0"/>
                <a:t> </a:t>
              </a:r>
              <a:r>
                <a:rPr lang="en-US" sz="3600" dirty="0" err="1">
                  <a:solidFill>
                    <a:schemeClr val="bg1"/>
                  </a:solidFill>
                </a:rPr>
                <a:t>fsm</a:t>
              </a:r>
              <a:r>
                <a:rPr lang="en-US" sz="3600" dirty="0">
                  <a:solidFill>
                    <a:schemeClr val="bg1"/>
                  </a:solidFill>
                </a:rPr>
                <a:t> </a:t>
              </a:r>
              <a:r>
                <a:rPr lang="en-US" sz="3600" dirty="0">
                  <a:solidFill>
                    <a:srgbClr val="9751CB"/>
                  </a:solidFill>
                </a:rPr>
                <a:t>(</a:t>
              </a:r>
              <a:r>
                <a:rPr lang="en-US" sz="3600" dirty="0">
                  <a:solidFill>
                    <a:srgbClr val="6DC0FF"/>
                  </a:solidFill>
                </a:rPr>
                <a:t>input</a:t>
              </a:r>
              <a:r>
                <a:rPr lang="en-US" sz="3600" dirty="0"/>
                <a:t> </a:t>
              </a:r>
              <a:r>
                <a:rPr lang="en-US" sz="3600" dirty="0">
                  <a:solidFill>
                    <a:schemeClr val="bg1"/>
                  </a:solidFill>
                </a:rPr>
                <a:t>clk,</a:t>
              </a:r>
              <a:r>
                <a:rPr lang="en-US" sz="3600" dirty="0"/>
                <a:t> </a:t>
              </a:r>
              <a:r>
                <a:rPr lang="en-US" sz="3600" dirty="0">
                  <a:solidFill>
                    <a:srgbClr val="6DC0FF"/>
                  </a:solidFill>
                </a:rPr>
                <a:t>input</a:t>
              </a:r>
              <a:r>
                <a:rPr lang="en-US" sz="3600" dirty="0"/>
                <a:t> </a:t>
              </a:r>
              <a:r>
                <a:rPr lang="en-US" sz="3600" dirty="0">
                  <a:solidFill>
                    <a:schemeClr val="bg1"/>
                  </a:solidFill>
                </a:rPr>
                <a:t>x</a:t>
              </a:r>
              <a:r>
                <a:rPr lang="en-US" sz="3600" dirty="0">
                  <a:solidFill>
                    <a:srgbClr val="9751CB"/>
                  </a:solidFill>
                </a:rPr>
                <a:t>)</a:t>
              </a:r>
              <a:r>
                <a:rPr lang="en-US" sz="3600" dirty="0">
                  <a:solidFill>
                    <a:schemeClr val="accent3"/>
                  </a:solidFill>
                </a:rPr>
                <a:t>;</a:t>
              </a:r>
            </a:p>
            <a:p>
              <a:r>
                <a:rPr lang="en-US" sz="3600" dirty="0"/>
                <a:t>	</a:t>
              </a:r>
              <a:r>
                <a:rPr lang="en-US" sz="3600" dirty="0">
                  <a:solidFill>
                    <a:srgbClr val="6DC0FF"/>
                  </a:solidFill>
                </a:rPr>
                <a:t>reg</a:t>
              </a:r>
              <a:r>
                <a:rPr lang="en-US" sz="3600" dirty="0"/>
                <a:t> </a:t>
              </a:r>
              <a:r>
                <a:rPr lang="en-US" sz="3600" dirty="0">
                  <a:solidFill>
                    <a:schemeClr val="bg1"/>
                  </a:solidFill>
                </a:rPr>
                <a:t>[1:0] state;</a:t>
              </a:r>
            </a:p>
            <a:p>
              <a:r>
                <a:rPr lang="en-US" sz="3600" dirty="0"/>
                <a:t>	</a:t>
              </a:r>
              <a:r>
                <a:rPr lang="en-US" sz="3600" dirty="0">
                  <a:solidFill>
                    <a:srgbClr val="6DC0FF"/>
                  </a:solidFill>
                </a:rPr>
                <a:t>always</a:t>
              </a:r>
              <a:r>
                <a:rPr lang="en-US" sz="3600" dirty="0"/>
                <a:t> </a:t>
              </a:r>
              <a:r>
                <a:rPr lang="en-US" sz="3600" dirty="0">
                  <a:solidFill>
                    <a:schemeClr val="bg1"/>
                  </a:solidFill>
                </a:rPr>
                <a:t>@</a:t>
              </a:r>
              <a:r>
                <a:rPr lang="en-US" sz="3600" dirty="0">
                  <a:solidFill>
                    <a:srgbClr val="9751CB"/>
                  </a:solidFill>
                </a:rPr>
                <a:t>(</a:t>
              </a:r>
              <a:r>
                <a:rPr lang="en-US" sz="3600" dirty="0">
                  <a:solidFill>
                    <a:srgbClr val="6DC0FF"/>
                  </a:solidFill>
                </a:rPr>
                <a:t>posedge</a:t>
              </a:r>
              <a:r>
                <a:rPr lang="en-US" sz="3600" dirty="0"/>
                <a:t> </a:t>
              </a:r>
              <a:r>
                <a:rPr lang="en-US" sz="3600" dirty="0">
                  <a:solidFill>
                    <a:schemeClr val="bg1"/>
                  </a:solidFill>
                </a:rPr>
                <a:t>clk</a:t>
              </a:r>
              <a:r>
                <a:rPr lang="en-US" sz="3600" dirty="0">
                  <a:solidFill>
                    <a:srgbClr val="9751CB"/>
                  </a:solidFill>
                </a:rPr>
                <a:t>)</a:t>
              </a:r>
              <a:r>
                <a:rPr lang="en-US" sz="3600" dirty="0">
                  <a:solidFill>
                    <a:srgbClr val="7030A0"/>
                  </a:solidFill>
                </a:rPr>
                <a:t> </a:t>
              </a:r>
              <a:r>
                <a:rPr lang="en-US" sz="3600" dirty="0">
                  <a:solidFill>
                    <a:srgbClr val="A365D1"/>
                  </a:solidFill>
                </a:rPr>
                <a:t>begin</a:t>
              </a:r>
            </a:p>
            <a:p>
              <a:r>
                <a:rPr lang="en-US" sz="3600" dirty="0"/>
                <a:t>		</a:t>
              </a:r>
              <a:r>
                <a:rPr lang="en-US" sz="3600" dirty="0">
                  <a:solidFill>
                    <a:srgbClr val="6DC0FF"/>
                  </a:solidFill>
                </a:rPr>
                <a:t>case</a:t>
              </a:r>
              <a:r>
                <a:rPr lang="en-US" sz="3600" dirty="0">
                  <a:solidFill>
                    <a:schemeClr val="bg1"/>
                  </a:solidFill>
                </a:rPr>
                <a:t> </a:t>
              </a:r>
              <a:r>
                <a:rPr lang="en-US" sz="3600" dirty="0">
                  <a:solidFill>
                    <a:srgbClr val="FFFA00"/>
                  </a:solidFill>
                </a:rPr>
                <a:t>(</a:t>
              </a:r>
              <a:r>
                <a:rPr lang="en-US" sz="3600" dirty="0">
                  <a:solidFill>
                    <a:schemeClr val="bg1"/>
                  </a:solidFill>
                </a:rPr>
                <a:t>state</a:t>
              </a:r>
              <a:r>
                <a:rPr lang="en-US" sz="3600" dirty="0">
                  <a:solidFill>
                    <a:srgbClr val="FFFA00"/>
                  </a:solidFill>
                </a:rPr>
                <a:t>)</a:t>
              </a:r>
              <a:r>
                <a:rPr lang="en-US" sz="3600" dirty="0">
                  <a:solidFill>
                    <a:schemeClr val="bg1"/>
                  </a:solidFill>
                </a:rPr>
                <a:t>:</a:t>
              </a:r>
            </a:p>
            <a:p>
              <a:r>
                <a:rPr lang="en-US" sz="3600" dirty="0">
                  <a:solidFill>
                    <a:schemeClr val="bg1"/>
                  </a:solidFill>
                </a:rPr>
                <a:t>			0: state = 2;</a:t>
              </a:r>
            </a:p>
            <a:p>
              <a:r>
                <a:rPr lang="en-US" sz="3600" dirty="0">
                  <a:solidFill>
                    <a:schemeClr val="bg1"/>
                  </a:solidFill>
                </a:rPr>
                <a:t>			1: state = 1;</a:t>
              </a:r>
            </a:p>
            <a:p>
              <a:r>
                <a:rPr lang="en-US" sz="3600" dirty="0">
                  <a:solidFill>
                    <a:schemeClr val="bg1"/>
                  </a:solidFill>
                </a:rPr>
                <a:t>			2: state = x ? 1 : 3;</a:t>
              </a:r>
            </a:p>
            <a:p>
              <a:r>
                <a:rPr lang="en-US" sz="3600" dirty="0">
                  <a:solidFill>
                    <a:schemeClr val="bg1"/>
                  </a:solidFill>
                </a:rPr>
                <a:t>			3: state = 0</a:t>
              </a:r>
            </a:p>
            <a:p>
              <a:r>
                <a:rPr lang="en-US" sz="3600" dirty="0">
                  <a:solidFill>
                    <a:schemeClr val="bg1"/>
                  </a:solidFill>
                </a:rPr>
                <a:t>		</a:t>
              </a:r>
              <a:r>
                <a:rPr lang="en-US" sz="3600" dirty="0">
                  <a:solidFill>
                    <a:srgbClr val="6DC0FF"/>
                  </a:solidFill>
                </a:rPr>
                <a:t>endcase</a:t>
              </a:r>
            </a:p>
            <a:p>
              <a:r>
                <a:rPr lang="en-US" sz="3600" dirty="0"/>
                <a:t>	</a:t>
              </a:r>
              <a:r>
                <a:rPr lang="en-US" sz="3600" dirty="0">
                  <a:solidFill>
                    <a:srgbClr val="A365D1"/>
                  </a:solidFill>
                </a:rPr>
                <a:t>end</a:t>
              </a:r>
            </a:p>
            <a:p>
              <a:r>
                <a:rPr lang="en-US" sz="3600" dirty="0">
                  <a:solidFill>
                    <a:srgbClr val="FFFA00"/>
                  </a:solidFill>
                </a:rPr>
                <a:t>endmodule</a:t>
              </a:r>
            </a:p>
          </p:txBody>
        </p:sp>
        <p:sp>
          <p:nvSpPr>
            <p:cNvPr id="2051" name="Rectangle 2050">
              <a:extLst>
                <a:ext uri="{FF2B5EF4-FFF2-40B4-BE49-F238E27FC236}">
                  <a16:creationId xmlns:a16="http://schemas.microsoft.com/office/drawing/2014/main" id="{437AB4A0-2F90-F3A7-F6FC-2938793306BC}"/>
                </a:ext>
              </a:extLst>
            </p:cNvPr>
            <p:cNvSpPr/>
            <p:nvPr/>
          </p:nvSpPr>
          <p:spPr bwMode="auto">
            <a:xfrm>
              <a:off x="24652694" y="13651029"/>
              <a:ext cx="2672590" cy="609600"/>
            </a:xfrm>
            <a:prstGeom prst="rect">
              <a:avLst/>
            </a:prstGeom>
            <a:noFill/>
            <a:ln w="762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a typeface="ＭＳ Ｐゴシック" pitchFamily="-109" charset="-128"/>
              </a:endParaRPr>
            </a:p>
          </p:txBody>
        </p:sp>
      </p:grpSp>
      <p:sp>
        <p:nvSpPr>
          <p:cNvPr id="2076" name="TextBox 2075">
            <a:extLst>
              <a:ext uri="{FF2B5EF4-FFF2-40B4-BE49-F238E27FC236}">
                <a16:creationId xmlns:a16="http://schemas.microsoft.com/office/drawing/2014/main" id="{FDF61097-DA5D-2B0A-BDA5-50E3632D9CAD}"/>
              </a:ext>
            </a:extLst>
          </p:cNvPr>
          <p:cNvSpPr txBox="1"/>
          <p:nvPr/>
        </p:nvSpPr>
        <p:spPr>
          <a:xfrm>
            <a:off x="481773" y="6322742"/>
            <a:ext cx="11821228" cy="5078313"/>
          </a:xfrm>
          <a:prstGeom prst="rect">
            <a:avLst/>
          </a:prstGeom>
          <a:noFill/>
        </p:spPr>
        <p:txBody>
          <a:bodyPr wrap="square" rtlCol="0">
            <a:spAutoFit/>
          </a:bodyPr>
          <a:lstStyle/>
          <a:p>
            <a:r>
              <a:rPr lang="en-US" sz="3600" b="1" dirty="0"/>
              <a:t>Hardware</a:t>
            </a:r>
            <a:r>
              <a:rPr lang="en-US" sz="3600" dirty="0"/>
              <a:t> </a:t>
            </a:r>
            <a:r>
              <a:rPr lang="en-US" sz="3600" b="1" dirty="0"/>
              <a:t>vulnerabilities</a:t>
            </a:r>
            <a:r>
              <a:rPr lang="en-US" sz="3600" dirty="0"/>
              <a:t> cannot be fully fixed with software patches or microcode updates alone. They often require physical modifications to the chip itself, driving up costs and leaving systems exposed for longer periods. Meltdown and Spectre demonstrated this by exploiting speculative execution in processors to steal sensitive data and affected nearly every device on the market. This is why catching vulnerabilities before fabrication is critical. The perfect time for that is during RTL design.</a:t>
            </a:r>
          </a:p>
        </p:txBody>
      </p:sp>
      <p:pic>
        <p:nvPicPr>
          <p:cNvPr id="2085" name="Picture 32" descr="Meltdown and Spectre">
            <a:extLst>
              <a:ext uri="{FF2B5EF4-FFF2-40B4-BE49-F238E27FC236}">
                <a16:creationId xmlns:a16="http://schemas.microsoft.com/office/drawing/2014/main" id="{05F3784B-E819-F846-3AB3-4804D4E41B32}"/>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3258804" y="11382742"/>
            <a:ext cx="1406648" cy="2736746"/>
          </a:xfrm>
          <a:prstGeom prst="rect">
            <a:avLst/>
          </a:prstGeom>
          <a:noFill/>
          <a:ln>
            <a:noFill/>
          </a:ln>
          <a:extLst>
            <a:ext uri="{909E8E84-426E-40DD-AFC4-6F175D3DCCD1}">
              <a14:hiddenFill xmlns:a14="http://schemas.microsoft.com/office/drawing/2010/main">
                <a:solidFill>
                  <a:srgbClr val="FFFFFF"/>
                </a:solidFill>
              </a14:hiddenFill>
            </a:ext>
          </a:extLst>
        </p:spPr>
      </p:pic>
      <p:grpSp>
        <p:nvGrpSpPr>
          <p:cNvPr id="2087" name="Group 2086">
            <a:extLst>
              <a:ext uri="{FF2B5EF4-FFF2-40B4-BE49-F238E27FC236}">
                <a16:creationId xmlns:a16="http://schemas.microsoft.com/office/drawing/2014/main" id="{13C0FD6B-5017-2B20-4170-2562F6813204}"/>
              </a:ext>
            </a:extLst>
          </p:cNvPr>
          <p:cNvGrpSpPr/>
          <p:nvPr/>
        </p:nvGrpSpPr>
        <p:grpSpPr>
          <a:xfrm>
            <a:off x="6317205" y="11345582"/>
            <a:ext cx="2950100" cy="2974618"/>
            <a:chOff x="6696279" y="10777030"/>
            <a:chExt cx="2950100" cy="2974618"/>
          </a:xfrm>
        </p:grpSpPr>
        <p:pic>
          <p:nvPicPr>
            <p:cNvPr id="2083" name="Picture 28" descr="Meltdown and Spectre">
              <a:extLst>
                <a:ext uri="{FF2B5EF4-FFF2-40B4-BE49-F238E27FC236}">
                  <a16:creationId xmlns:a16="http://schemas.microsoft.com/office/drawing/2014/main" id="{5C1A652E-A2BD-F8D8-BEF4-47C35AC9CF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96279" y="10777030"/>
              <a:ext cx="2950100" cy="2341349"/>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086" name="TextBox 2085">
              <a:extLst>
                <a:ext uri="{FF2B5EF4-FFF2-40B4-BE49-F238E27FC236}">
                  <a16:creationId xmlns:a16="http://schemas.microsoft.com/office/drawing/2014/main" id="{3CB3D0B4-659B-5181-5770-2A6AB41687B3}"/>
                </a:ext>
              </a:extLst>
            </p:cNvPr>
            <p:cNvSpPr txBox="1"/>
            <p:nvPr/>
          </p:nvSpPr>
          <p:spPr>
            <a:xfrm>
              <a:off x="6933982" y="13105317"/>
              <a:ext cx="2142921" cy="646331"/>
            </a:xfrm>
            <a:prstGeom prst="rect">
              <a:avLst/>
            </a:prstGeom>
            <a:noFill/>
            <a:ln>
              <a:noFill/>
            </a:ln>
          </p:spPr>
          <p:txBody>
            <a:bodyPr wrap="square" rtlCol="0">
              <a:spAutoFit/>
            </a:bodyPr>
            <a:lstStyle/>
            <a:p>
              <a:r>
                <a:rPr lang="en-US" sz="3600" dirty="0">
                  <a:solidFill>
                    <a:srgbClr val="036994"/>
                  </a:solidFill>
                  <a:latin typeface="Aptos ExtraBold" panose="020F0502020204030204" pitchFamily="34" charset="0"/>
                </a:rPr>
                <a:t>SPECTRE</a:t>
              </a:r>
            </a:p>
          </p:txBody>
        </p:sp>
      </p:grpSp>
      <p:sp>
        <p:nvSpPr>
          <p:cNvPr id="2088" name="TextBox 2087">
            <a:extLst>
              <a:ext uri="{FF2B5EF4-FFF2-40B4-BE49-F238E27FC236}">
                <a16:creationId xmlns:a16="http://schemas.microsoft.com/office/drawing/2014/main" id="{24D52113-752E-D554-4738-EFEB207CE525}"/>
              </a:ext>
            </a:extLst>
          </p:cNvPr>
          <p:cNvSpPr txBox="1"/>
          <p:nvPr/>
        </p:nvSpPr>
        <p:spPr>
          <a:xfrm>
            <a:off x="30425584" y="19278600"/>
            <a:ext cx="12846479" cy="9510296"/>
          </a:xfrm>
          <a:prstGeom prst="rect">
            <a:avLst/>
          </a:prstGeom>
          <a:noFill/>
        </p:spPr>
        <p:txBody>
          <a:bodyPr wrap="square" rtlCol="0">
            <a:spAutoFit/>
          </a:bodyPr>
          <a:lstStyle/>
          <a:p>
            <a:r>
              <a:rPr lang="en-US" sz="3600" b="1" dirty="0"/>
              <a:t>Limited Dataset Size</a:t>
            </a:r>
          </a:p>
          <a:p>
            <a:r>
              <a:rPr lang="en-US" sz="3600" dirty="0"/>
              <a:t>While we have preliminary results from our dataset, a larger, more diverse dataset would enable a more comprehensive evaluation.</a:t>
            </a:r>
          </a:p>
          <a:p>
            <a:endParaRPr lang="en-US" sz="3600" b="1" dirty="0"/>
          </a:p>
          <a:p>
            <a:r>
              <a:rPr lang="en-US" sz="3600" b="1" dirty="0"/>
              <a:t>Identifying Security-sensitive Registers</a:t>
            </a:r>
          </a:p>
          <a:p>
            <a:r>
              <a:rPr lang="en-US" sz="3600" dirty="0"/>
              <a:t>With static analysis, we only have a limited amount of context about the module and the defined registers. Without more semantic context, it is hard to identify security-sensitive registers</a:t>
            </a:r>
          </a:p>
          <a:p>
            <a:endParaRPr lang="en-US" sz="3600" b="1" dirty="0"/>
          </a:p>
          <a:p>
            <a:r>
              <a:rPr lang="en-US" sz="3600" b="1" dirty="0"/>
              <a:t>Name Matching</a:t>
            </a:r>
          </a:p>
          <a:p>
            <a:r>
              <a:rPr lang="en-US" sz="3600" dirty="0"/>
              <a:t>Identifying cryptographic modules, reset signals, and lock bits with name matching works for conventional names. However, this technique breaks down when non-conventional names are used</a:t>
            </a:r>
          </a:p>
          <a:p>
            <a:endParaRPr lang="en-US" sz="3600" b="1" dirty="0"/>
          </a:p>
        </p:txBody>
      </p:sp>
      <p:sp>
        <p:nvSpPr>
          <p:cNvPr id="2089" name="TextBox 2088">
            <a:extLst>
              <a:ext uri="{FF2B5EF4-FFF2-40B4-BE49-F238E27FC236}">
                <a16:creationId xmlns:a16="http://schemas.microsoft.com/office/drawing/2014/main" id="{4DDA893B-E66D-D599-01EB-D8336B4E264E}"/>
              </a:ext>
            </a:extLst>
          </p:cNvPr>
          <p:cNvSpPr txBox="1"/>
          <p:nvPr/>
        </p:nvSpPr>
        <p:spPr>
          <a:xfrm>
            <a:off x="30511172" y="14538315"/>
            <a:ext cx="12870958" cy="2862322"/>
          </a:xfrm>
          <a:prstGeom prst="rect">
            <a:avLst/>
          </a:prstGeom>
          <a:noFill/>
        </p:spPr>
        <p:txBody>
          <a:bodyPr wrap="square" rtlCol="0">
            <a:spAutoFit/>
          </a:bodyPr>
          <a:lstStyle/>
          <a:p>
            <a:r>
              <a:rPr lang="en-US" sz="3600" b="1" dirty="0"/>
              <a:t>Strong</a:t>
            </a:r>
            <a:r>
              <a:rPr lang="en-US" sz="3600" dirty="0"/>
              <a:t> performance for CWE-1245 &amp; CWE-1431 where weaknesses appear in structural patterns</a:t>
            </a:r>
          </a:p>
          <a:p>
            <a:endParaRPr lang="en-US" sz="3600" dirty="0"/>
          </a:p>
          <a:p>
            <a:r>
              <a:rPr lang="en-US" sz="3600" b="1" dirty="0"/>
              <a:t>Weaker</a:t>
            </a:r>
            <a:r>
              <a:rPr lang="en-US" sz="3600" dirty="0"/>
              <a:t> performance for CWE-1233 &amp; CWE-226 where more semantic context is required </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09"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09"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3100</TotalTime>
  <Words>821</Words>
  <Application>Microsoft Office PowerPoint</Application>
  <PresentationFormat>Custom</PresentationFormat>
  <Paragraphs>146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MS PGothic</vt:lpstr>
      <vt:lpstr>Aptos ExtraBold</vt:lpstr>
      <vt:lpstr>Arial</vt:lpstr>
      <vt:lpstr>Blank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ResearchPstr_Grn-3_48x36</dc:title>
  <dc:subject>&amp;lt;p&amp;gt;Heading Lorem ipsum dolor sit amet, consectetuer adipiscing elit, sed diam nonummy nibh euismod tincidunt ut laoreet dolore magna aliquam erat volutpat.  Ut wisi enim ad minim veniam. Lorem ipsum dolor sit amet, consectetuer adipiscing elit, sed diam nonummy nibh euismod tincidunt ut laoreet dolore magna aliquam erat v&amp;lt;/p&amp;gt;</dc:subject>
  <dc:creator>Pamela Seymour</dc:creator>
  <cp:keywords/>
  <dc:description>&amp;lt;p&amp;gt;Heading Lorem ipsum dolor sit amet, consectetuer adipiscing elit, sed diam nonummy nibh euismod tincidunt ut laoreet dolore magna aliquam erat volutpat.  Ut wisi enim ad minim veniam. Lorem ipsum dolor sit amet, consectetuer adipiscing elit, sed diam nonummy nibh euismod tincidunt ut laoreet dolore magna aliquam erat v&amp;lt;/p&amp;gt;</dc:description>
  <cp:lastModifiedBy>john parks</cp:lastModifiedBy>
  <cp:revision>94</cp:revision>
  <cp:lastPrinted>2026-03-17T20:42:57Z</cp:lastPrinted>
  <dcterms:created xsi:type="dcterms:W3CDTF">2009-08-20T20:50:05Z</dcterms:created>
  <dcterms:modified xsi:type="dcterms:W3CDTF">2026-03-17T20:47:43Z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EktContentLanguage">
    <vt:i4>1033</vt:i4>
  </property>
  <property fmtid="{D5CDD505-2E9C-101B-9397-08002B2CF9AE}" pid="3" name="EktQuickLink">
    <vt:lpwstr>DownloadAsset.aspx?id=24817</vt:lpwstr>
  </property>
  <property fmtid="{D5CDD505-2E9C-101B-9397-08002B2CF9AE}" pid="4" name="EktContentType">
    <vt:i4>101</vt:i4>
  </property>
  <property fmtid="{D5CDD505-2E9C-101B-9397-08002B2CF9AE}" pid="5" name="EktContentSubType">
    <vt:i4>0</vt:i4>
  </property>
  <property fmtid="{D5CDD505-2E9C-101B-9397-08002B2CF9AE}" pid="6" name="EktFolderName">
    <vt:lpwstr/>
  </property>
  <property fmtid="{D5CDD505-2E9C-101B-9397-08002B2CF9AE}" pid="7" name="EktCmsPath">
    <vt:lpwstr>&amp;lt;p&amp;gt;Heading Lorem ipsum dolor sit amet, consectetuer adipiscing elit, sed diam nonummy nibh euismod tincidunt ut laoreet dolore magna aliquam erat volutpat.  Ut wisi enim ad minim veniam. Lorem ipsum dolor sit amet, consectetuer adipiscing elit, sed </vt:lpwstr>
  </property>
  <property fmtid="{D5CDD505-2E9C-101B-9397-08002B2CF9AE}" pid="8" name="EktExpiryType">
    <vt:i4>1</vt:i4>
  </property>
  <property fmtid="{D5CDD505-2E9C-101B-9397-08002B2CF9AE}" pid="9" name="EktDateCreated">
    <vt:filetime>2012-01-03T16:56:00Z</vt:filetime>
  </property>
  <property fmtid="{D5CDD505-2E9C-101B-9397-08002B2CF9AE}" pid="10" name="EktDateModified">
    <vt:filetime>2012-01-03T16:56:00Z</vt:filetime>
  </property>
  <property fmtid="{D5CDD505-2E9C-101B-9397-08002B2CF9AE}" pid="11" name="EktTaxCategory">
    <vt:lpwstr/>
  </property>
  <property fmtid="{D5CDD505-2E9C-101B-9397-08002B2CF9AE}" pid="12" name="EktCmsSize">
    <vt:i4>150528</vt:i4>
  </property>
  <property fmtid="{D5CDD505-2E9C-101B-9397-08002B2CF9AE}" pid="13" name="EktSearchable">
    <vt:i4>1</vt:i4>
  </property>
  <property fmtid="{D5CDD505-2E9C-101B-9397-08002B2CF9AE}" pid="14" name="EktEDescription">
    <vt:lpwstr>Summary &amp;lt;p&amp;gt;Heading Lorem ipsum dolor sit amet, consectetuer adipiscing elit, sed diam nonummy nibh euismod tincidunt ut laoreet dolore magna aliquam erat volutpat.  Ut wisi enim ad minim veniam. Lorem ipsum dolor sit amet, consectetuer adipiscing el</vt:lpwstr>
  </property>
</Properties>
</file>