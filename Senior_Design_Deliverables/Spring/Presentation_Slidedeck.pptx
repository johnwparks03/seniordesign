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7787-956C-4FB0-AB1F-983635078CA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E98E4-F064-4357-874C-BD22EEF2C3F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6480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7787-956C-4FB0-AB1F-983635078CA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E98E4-F064-4357-874C-BD22EEF2C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498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7787-956C-4FB0-AB1F-983635078CA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E98E4-F064-4357-874C-BD22EEF2C3F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869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7787-956C-4FB0-AB1F-983635078CA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E98E4-F064-4357-874C-BD22EEF2C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062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7787-956C-4FB0-AB1F-983635078CA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E98E4-F064-4357-874C-BD22EEF2C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88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7787-956C-4FB0-AB1F-983635078CA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E98E4-F064-4357-874C-BD22EEF2C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933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7787-956C-4FB0-AB1F-983635078CA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E98E4-F064-4357-874C-BD22EEF2C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752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8467787-956C-4FB0-AB1F-983635078CA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9EE98E4-F064-4357-874C-BD22EEF2C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224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7787-956C-4FB0-AB1F-983635078CA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E98E4-F064-4357-874C-BD22EEF2C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671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7787-956C-4FB0-AB1F-983635078CA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E98E4-F064-4357-874C-BD22EEF2C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133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7787-956C-4FB0-AB1F-983635078CA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E98E4-F064-4357-874C-BD22EEF2C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951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8467787-956C-4FB0-AB1F-983635078CA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9EE98E4-F064-4357-874C-BD22EEF2C3F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2022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6E573-2941-D512-C8B3-74CD698563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PickyRTL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91C1F0-50A6-D872-7823-F9A106CD84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Team: John Parks</a:t>
            </a:r>
          </a:p>
          <a:p>
            <a:r>
              <a:rPr lang="en-US" dirty="0"/>
              <a:t>Advisor: Dr. Boyang Wang</a:t>
            </a:r>
          </a:p>
        </p:txBody>
      </p:sp>
    </p:spTree>
    <p:extLst>
      <p:ext uri="{BB962C8B-B14F-4D97-AF65-F5344CB8AC3E}">
        <p14:creationId xmlns:p14="http://schemas.microsoft.com/office/powerpoint/2010/main" val="2882755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96C3A-36A7-41D2-7D27-85637AE82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&amp;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6A5D1-3C0F-D80B-5FFB-CFE355E87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Background</a:t>
            </a:r>
          </a:p>
          <a:p>
            <a:pPr lvl="1"/>
            <a:r>
              <a:rPr lang="en-US" sz="2000" dirty="0"/>
              <a:t>Hardware vulnerabilities pose significant security risks</a:t>
            </a:r>
          </a:p>
          <a:p>
            <a:pPr lvl="1"/>
            <a:r>
              <a:rPr lang="en-US" sz="2000" dirty="0"/>
              <a:t>Tools to detect vulnerabilities in RTL remain limited in their capabilities and coverage</a:t>
            </a:r>
          </a:p>
          <a:p>
            <a:r>
              <a:rPr lang="en-US" sz="2400" dirty="0"/>
              <a:t>Goals</a:t>
            </a:r>
          </a:p>
          <a:p>
            <a:pPr lvl="1"/>
            <a:r>
              <a:rPr lang="en-US" sz="2000" dirty="0"/>
              <a:t>Create detection algorithms for specific CWEs in RTL code</a:t>
            </a:r>
          </a:p>
          <a:p>
            <a:pPr lvl="1"/>
            <a:r>
              <a:rPr lang="en-US" sz="2000" dirty="0"/>
              <a:t>Collect and create datasets of vulnerable RTL examples</a:t>
            </a:r>
          </a:p>
          <a:p>
            <a:pPr lvl="1"/>
            <a:r>
              <a:rPr lang="en-US" sz="2000" dirty="0"/>
              <a:t>Write a research paper that contains the findings</a:t>
            </a:r>
          </a:p>
        </p:txBody>
      </p:sp>
    </p:spTree>
    <p:extLst>
      <p:ext uri="{BB962C8B-B14F-4D97-AF65-F5344CB8AC3E}">
        <p14:creationId xmlns:p14="http://schemas.microsoft.com/office/powerpoint/2010/main" val="103739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A7F34-8204-15F7-CE9A-4D8546035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Intellectual Merits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9FF1A-EC1C-16F7-0E93-8186E7004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Created detection algorithms for 4 CWEs</a:t>
            </a:r>
          </a:p>
          <a:p>
            <a:pPr lvl="1"/>
            <a:r>
              <a:rPr lang="en-US" sz="2000" dirty="0"/>
              <a:t>CWE-1245</a:t>
            </a:r>
          </a:p>
          <a:p>
            <a:pPr lvl="1"/>
            <a:r>
              <a:rPr lang="en-US" sz="2000" dirty="0"/>
              <a:t>CWE-1233</a:t>
            </a:r>
          </a:p>
          <a:p>
            <a:pPr lvl="1"/>
            <a:r>
              <a:rPr lang="en-US" sz="2000" dirty="0"/>
              <a:t>CWE-226</a:t>
            </a:r>
          </a:p>
          <a:p>
            <a:pPr lvl="1"/>
            <a:r>
              <a:rPr lang="en-US" sz="2000" dirty="0"/>
              <a:t>CWE-1431</a:t>
            </a:r>
          </a:p>
          <a:p>
            <a:r>
              <a:rPr lang="en-US" sz="2400" dirty="0"/>
              <a:t>Gathered a dataset of 39 Verilog and </a:t>
            </a:r>
            <a:r>
              <a:rPr lang="en-US" sz="2400" dirty="0" err="1"/>
              <a:t>SystemVerilog</a:t>
            </a:r>
            <a:r>
              <a:rPr lang="en-US" sz="2400" dirty="0"/>
              <a:t> files for evaluation</a:t>
            </a:r>
          </a:p>
          <a:p>
            <a:r>
              <a:rPr lang="en-US" sz="2400" dirty="0"/>
              <a:t>“</a:t>
            </a:r>
            <a:r>
              <a:rPr lang="en-US" sz="2400" dirty="0" err="1"/>
              <a:t>PickyRTL</a:t>
            </a:r>
            <a:r>
              <a:rPr lang="en-US" sz="2400" dirty="0"/>
              <a:t>: A Static Analysis Tool for Detecting Hardware CWEs at Register-Transfer Level” was accepted to the SATC 2026 conference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418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05F9-42C0-440A-2180-0CFF58F92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Broader Impacts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79D73-9963-1B0B-D473-3B5765EC8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Improving Hardware Security</a:t>
            </a:r>
          </a:p>
          <a:p>
            <a:pPr lvl="1"/>
            <a:r>
              <a:rPr lang="en-US" sz="2000" dirty="0"/>
              <a:t>Detects hardware vulnerabilities before chips are manufactured</a:t>
            </a:r>
          </a:p>
          <a:p>
            <a:pPr lvl="1"/>
            <a:r>
              <a:rPr lang="en-US" sz="2000" dirty="0"/>
              <a:t>Helps reduce the risk of hardware-level attacks</a:t>
            </a:r>
          </a:p>
          <a:p>
            <a:r>
              <a:rPr lang="en-US" sz="2400" dirty="0"/>
              <a:t>Reducing Cost</a:t>
            </a:r>
          </a:p>
          <a:p>
            <a:pPr lvl="1"/>
            <a:r>
              <a:rPr lang="en-US" sz="2000" dirty="0"/>
              <a:t>Identifies vulnerabilities early in the design phase where fixes are less expensive</a:t>
            </a:r>
          </a:p>
          <a:p>
            <a:r>
              <a:rPr lang="en-US" sz="2400" dirty="0"/>
              <a:t>Helping Hardware Design Engineers</a:t>
            </a:r>
          </a:p>
          <a:p>
            <a:pPr lvl="1"/>
            <a:r>
              <a:rPr lang="en-US" sz="2000" dirty="0"/>
              <a:t>Provides static analysis to detect vulnerabilities without the need for manual review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158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A423E-F6FC-974C-1334-C9D39B012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6578"/>
            <a:ext cx="10058400" cy="1450757"/>
          </a:xfrm>
        </p:spPr>
        <p:txBody>
          <a:bodyPr/>
          <a:lstStyle/>
          <a:p>
            <a:r>
              <a:rPr lang="en-US" dirty="0"/>
              <a:t>Design Specifications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3BF956B-CC2D-48A1-50E7-431E03B1D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1845734"/>
            <a:ext cx="5108787" cy="117250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382CD73-DD78-2967-5D3F-8EE0A7F40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9812" y="3326642"/>
            <a:ext cx="6135868" cy="107293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A138453F-723A-13EA-E276-1CC0068FC0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547" y="4707979"/>
            <a:ext cx="6146948" cy="141128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026B70-4C76-34C9-F021-E59C652C007D}"/>
              </a:ext>
            </a:extLst>
          </p:cNvPr>
          <p:cNvSpPr txBox="1"/>
          <p:nvPr/>
        </p:nvSpPr>
        <p:spPr>
          <a:xfrm>
            <a:off x="6253629" y="2241488"/>
            <a:ext cx="2802466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Design Diagram 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8F38F6-281C-1F04-0430-B3E54C3648A0}"/>
              </a:ext>
            </a:extLst>
          </p:cNvPr>
          <p:cNvSpPr txBox="1"/>
          <p:nvPr/>
        </p:nvSpPr>
        <p:spPr>
          <a:xfrm>
            <a:off x="3104415" y="3678445"/>
            <a:ext cx="2251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Design Diagram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096A75-A8F8-FA46-510C-D486E98015B0}"/>
              </a:ext>
            </a:extLst>
          </p:cNvPr>
          <p:cNvSpPr txBox="1"/>
          <p:nvPr/>
        </p:nvSpPr>
        <p:spPr>
          <a:xfrm>
            <a:off x="7303495" y="5228957"/>
            <a:ext cx="2167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Design Diagram 2</a:t>
            </a:r>
          </a:p>
        </p:txBody>
      </p:sp>
    </p:spTree>
    <p:extLst>
      <p:ext uri="{BB962C8B-B14F-4D97-AF65-F5344CB8AC3E}">
        <p14:creationId xmlns:p14="http://schemas.microsoft.com/office/powerpoint/2010/main" val="2671345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E70BC-0CD7-ED5F-E4C2-24E2E8C83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A77AE-4D3E-605C-554B-F688A3088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</a:t>
            </a:r>
            <a:r>
              <a:rPr lang="en-US" sz="2400" dirty="0"/>
              <a:t>ogramming Language</a:t>
            </a:r>
          </a:p>
          <a:p>
            <a:pPr lvl="1"/>
            <a:r>
              <a:rPr lang="en-US" sz="2000" dirty="0"/>
              <a:t>Python 3.10.12	</a:t>
            </a: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sz="2400" dirty="0"/>
              <a:t>HDL Parsing</a:t>
            </a:r>
          </a:p>
          <a:p>
            <a:pPr lvl="1"/>
            <a:r>
              <a:rPr lang="en-US" sz="2000" dirty="0" err="1"/>
              <a:t>hdlConvertor</a:t>
            </a:r>
            <a:endParaRPr lang="en-US" sz="2000" dirty="0"/>
          </a:p>
          <a:p>
            <a:pPr marL="0" indent="0">
              <a:buNone/>
            </a:pPr>
            <a:r>
              <a:rPr lang="en-US" sz="2400" dirty="0"/>
              <a:t>Development/Testing Environment</a:t>
            </a:r>
          </a:p>
          <a:p>
            <a:pPr lvl="1"/>
            <a:r>
              <a:rPr lang="en-US" sz="2000" dirty="0"/>
              <a:t>Virtual Environment with Ubuntu 22.04</a:t>
            </a:r>
          </a:p>
          <a:p>
            <a:pPr marL="0" indent="0">
              <a:buNone/>
            </a:pPr>
            <a:r>
              <a:rPr lang="en-US" sz="2400" dirty="0"/>
              <a:t>Hardware</a:t>
            </a:r>
          </a:p>
          <a:p>
            <a:pPr lvl="1"/>
            <a:r>
              <a:rPr lang="en-US" sz="2000" dirty="0"/>
              <a:t>Intel Core i7-12700H CPU</a:t>
            </a:r>
          </a:p>
          <a:p>
            <a:pPr lvl="1"/>
            <a:r>
              <a:rPr lang="en-US" sz="2000" dirty="0"/>
              <a:t>8 GB RAM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479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209CB-B1D5-BA56-7DF7-515434C0F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Milestones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5F08B-401A-A56B-6B85-48BE4E824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/>
              <a:t>PickyRTL</a:t>
            </a:r>
            <a:r>
              <a:rPr lang="en-US" sz="2400" dirty="0"/>
              <a:t> Tool</a:t>
            </a:r>
          </a:p>
          <a:p>
            <a:pPr lvl="1"/>
            <a:r>
              <a:rPr lang="en-US" sz="2000" dirty="0"/>
              <a:t>HDL File Parser –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Complete</a:t>
            </a:r>
          </a:p>
          <a:p>
            <a:pPr lvl="1"/>
            <a:r>
              <a:rPr lang="en-US" sz="2000" dirty="0"/>
              <a:t>CWE-1245 Detection Algorithm –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Complete</a:t>
            </a:r>
          </a:p>
          <a:p>
            <a:pPr lvl="1"/>
            <a:r>
              <a:rPr lang="en-US" sz="2000" dirty="0"/>
              <a:t>CWE-1233 Detection Algorithm –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Complete</a:t>
            </a:r>
          </a:p>
          <a:p>
            <a:pPr lvl="1"/>
            <a:r>
              <a:rPr lang="en-US" sz="2000" dirty="0"/>
              <a:t>CWE-226 Detection Algorithm –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Complete</a:t>
            </a:r>
          </a:p>
          <a:p>
            <a:pPr lvl="1"/>
            <a:r>
              <a:rPr lang="en-US" sz="2000" dirty="0"/>
              <a:t>CWE-1431 Detection Algorithm –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Complete</a:t>
            </a:r>
          </a:p>
          <a:p>
            <a:r>
              <a:rPr lang="en-US" sz="2400" dirty="0"/>
              <a:t>Paper</a:t>
            </a:r>
          </a:p>
          <a:p>
            <a:pPr lvl="1"/>
            <a:r>
              <a:rPr lang="en-US" sz="2000" dirty="0"/>
              <a:t>Initial Submission –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Complete</a:t>
            </a:r>
          </a:p>
          <a:p>
            <a:pPr lvl="1"/>
            <a:r>
              <a:rPr lang="en-US" sz="2000" dirty="0"/>
              <a:t>Camera Ready Submission –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Complete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805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65795-B6E2-F8BD-9EE3-EFD5A5F0D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05440-1C39-0423-3019-AA3986D03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“</a:t>
            </a:r>
            <a:r>
              <a:rPr lang="en-US" sz="2400" dirty="0" err="1"/>
              <a:t>PickyRTL</a:t>
            </a:r>
            <a:r>
              <a:rPr lang="en-US" sz="2400" dirty="0"/>
              <a:t>: A Static Analysis Tool for Detecting Hardware CWEs at Register-Transfer Level” accepted into SaTC 2026</a:t>
            </a:r>
          </a:p>
          <a:p>
            <a:r>
              <a:rPr lang="en-US" sz="2400" dirty="0"/>
              <a:t>Preliminary Detection Results: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E6A790-AD04-0139-30E6-120F96BB6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833917"/>
              </p:ext>
            </p:extLst>
          </p:nvPr>
        </p:nvGraphicFramePr>
        <p:xfrm>
          <a:off x="2031999" y="3429000"/>
          <a:ext cx="8128001" cy="2494280"/>
        </p:xfrm>
        <a:graphic>
          <a:graphicData uri="http://schemas.openxmlformats.org/drawingml/2006/table">
            <a:tbl>
              <a:tblPr firstRow="1" lastRow="1" bandRow="1">
                <a:tableStyleId>{073A0DAA-6AF3-43AB-8588-CEC1D06C72B9}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854020446"/>
                    </a:ext>
                  </a:extLst>
                </a:gridCol>
                <a:gridCol w="1505857">
                  <a:extLst>
                    <a:ext uri="{9D8B030D-6E8A-4147-A177-3AD203B41FA5}">
                      <a16:colId xmlns:a16="http://schemas.microsoft.com/office/drawing/2014/main" val="4091269189"/>
                    </a:ext>
                  </a:extLst>
                </a:gridCol>
                <a:gridCol w="816429">
                  <a:extLst>
                    <a:ext uri="{9D8B030D-6E8A-4147-A177-3AD203B41FA5}">
                      <a16:colId xmlns:a16="http://schemas.microsoft.com/office/drawing/2014/main" val="126496124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68864910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69435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2631639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073546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CWE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Vulnerable 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20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CWE-1245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153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CWE-1233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63.3%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922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CWE-226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67.7%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80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CWE-1431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314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73.8%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21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8888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43A47-D548-0FA3-0E08-30044C9B9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554C7-9FAA-0FF4-E9EC-CEFAEBBEB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There is no official dataset for RTL vulnerability detection, and the availability of vulnerable examples is limited</a:t>
            </a:r>
          </a:p>
          <a:p>
            <a:pPr lvl="1"/>
            <a:r>
              <a:rPr lang="en-US" sz="2000" dirty="0"/>
              <a:t>Collected 9-10 examples for each example with some being modified to include a vulnerability</a:t>
            </a:r>
          </a:p>
          <a:p>
            <a:pPr lvl="1"/>
            <a:r>
              <a:rPr lang="en-US" sz="2000" dirty="0"/>
              <a:t>Some future work includes the creation of a larger dataset</a:t>
            </a:r>
          </a:p>
          <a:p>
            <a:r>
              <a:rPr lang="en-US" sz="2400" dirty="0"/>
              <a:t>CWE-1233 and CWE-226 detection requires context about module functionality and design to be effective</a:t>
            </a:r>
          </a:p>
          <a:p>
            <a:pPr lvl="1"/>
            <a:r>
              <a:rPr lang="en-US" sz="2000" dirty="0"/>
              <a:t>The current detection algorithms work without context, but future work would benefit by improving them to include some sort of context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00029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1451</TotalTime>
  <Words>388</Words>
  <Application>Microsoft Office PowerPoint</Application>
  <PresentationFormat>Widescreen</PresentationFormat>
  <Paragraphs>106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Retrospect</vt:lpstr>
      <vt:lpstr>PickyRTL</vt:lpstr>
      <vt:lpstr>Background &amp; Goals</vt:lpstr>
      <vt:lpstr>Intellectual Merits </vt:lpstr>
      <vt:lpstr>Broader Impacts</vt:lpstr>
      <vt:lpstr>Design Specifications</vt:lpstr>
      <vt:lpstr>Technologies</vt:lpstr>
      <vt:lpstr>Milestones</vt:lpstr>
      <vt:lpstr>Results</vt:lpstr>
      <vt:lpstr>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parks</dc:creator>
  <cp:lastModifiedBy>john parks</cp:lastModifiedBy>
  <cp:revision>4</cp:revision>
  <dcterms:created xsi:type="dcterms:W3CDTF">2026-02-16T04:44:58Z</dcterms:created>
  <dcterms:modified xsi:type="dcterms:W3CDTF">2026-02-17T23:22:10Z</dcterms:modified>
</cp:coreProperties>
</file>